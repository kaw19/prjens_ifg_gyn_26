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32" r:id="rId1"/>
  </p:sldMasterIdLst>
  <p:sldIdLst>
    <p:sldId id="256" r:id="rId2"/>
    <p:sldId id="257" r:id="rId3"/>
    <p:sldId id="258" r:id="rId4"/>
    <p:sldId id="259" r:id="rId5"/>
    <p:sldId id="263" r:id="rId6"/>
    <p:sldId id="260" r:id="rId7"/>
    <p:sldId id="264" r:id="rId8"/>
    <p:sldId id="265" r:id="rId9"/>
    <p:sldId id="267" r:id="rId10"/>
    <p:sldId id="268" r:id="rId11"/>
    <p:sldId id="261" r:id="rId12"/>
    <p:sldId id="273" r:id="rId13"/>
    <p:sldId id="278" r:id="rId14"/>
    <p:sldId id="275" r:id="rId15"/>
    <p:sldId id="280" r:id="rId16"/>
    <p:sldId id="276" r:id="rId17"/>
    <p:sldId id="279" r:id="rId18"/>
    <p:sldId id="277" r:id="rId19"/>
    <p:sldId id="281" r:id="rId20"/>
    <p:sldId id="269" r:id="rId21"/>
    <p:sldId id="262" r:id="rId22"/>
    <p:sldId id="270" r:id="rId23"/>
    <p:sldId id="282" r:id="rId24"/>
    <p:sldId id="271" r:id="rId25"/>
    <p:sldId id="272" r:id="rId26"/>
    <p:sldId id="266" r:id="rId27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AD48853-CB9B-4BBF-8B36-080ECA4E2ED3}" v="128" dt="2026-05-04T16:44:07.339"/>
    <p1510:client id="{8162DB99-1171-4499-BF74-1316510E3872}" v="9" dt="2026-05-04T14:26:50.11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07041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95129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68844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88211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48183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69889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707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1678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4461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08828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299670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73964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933582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631623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108427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98076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  <a:solidFill>
            <a:schemeClr val="accent1">
              <a:lumMod val="75000"/>
              <a:alpha val="40000"/>
            </a:schemeClr>
          </a:solidFill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grpFill/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30"/>
            <a:ext cx="2356674" cy="6853283"/>
            <a:chOff x="6627813" y="195452"/>
            <a:chExt cx="1952625" cy="5678299"/>
          </a:xfrm>
          <a:solidFill>
            <a:schemeClr val="accent1"/>
          </a:solidFill>
        </p:grpSpPr>
        <p:sp>
          <p:nvSpPr>
            <p:cNvPr id="11" name="Freeform 27"/>
            <p:cNvSpPr/>
            <p:nvPr/>
          </p:nvSpPr>
          <p:spPr bwMode="auto">
            <a:xfrm>
              <a:off x="6627813" y="195452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grpFill/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5/4/2026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73401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33" r:id="rId1"/>
    <p:sldLayoutId id="2147483834" r:id="rId2"/>
    <p:sldLayoutId id="2147483835" r:id="rId3"/>
    <p:sldLayoutId id="2147483836" r:id="rId4"/>
    <p:sldLayoutId id="2147483837" r:id="rId5"/>
    <p:sldLayoutId id="2147483838" r:id="rId6"/>
    <p:sldLayoutId id="2147483839" r:id="rId7"/>
    <p:sldLayoutId id="2147483840" r:id="rId8"/>
    <p:sldLayoutId id="2147483841" r:id="rId9"/>
    <p:sldLayoutId id="2147483842" r:id="rId10"/>
    <p:sldLayoutId id="2147483843" r:id="rId11"/>
    <p:sldLayoutId id="2147483844" r:id="rId12"/>
    <p:sldLayoutId id="2147483845" r:id="rId13"/>
    <p:sldLayoutId id="2147483846" r:id="rId14"/>
    <p:sldLayoutId id="2147483847" r:id="rId15"/>
    <p:sldLayoutId id="2147483848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github.com/usuario/projeto.git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hostinger.com/br/tutoriais/comandos" TargetMode="External"/><Relationship Id="rId2" Type="http://schemas.openxmlformats.org/officeDocument/2006/relationships/hyperlink" Target="https://github.com/kaw19/prjens_ifg_gyn_26/tree/main/mat_did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 err="1"/>
              <a:t>Apresentação</a:t>
            </a:r>
            <a:r>
              <a:rPr lang="de-DE" dirty="0"/>
              <a:t> do GIT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de-DE" dirty="0" err="1"/>
              <a:t>Características</a:t>
            </a:r>
            <a:r>
              <a:rPr lang="de-DE" dirty="0"/>
              <a:t>, </a:t>
            </a:r>
            <a:r>
              <a:rPr lang="de-DE" dirty="0" err="1"/>
              <a:t>Exemplo</a:t>
            </a:r>
            <a:r>
              <a:rPr lang="de-DE" dirty="0"/>
              <a:t> de </a:t>
            </a:r>
            <a:r>
              <a:rPr lang="de-DE" dirty="0" err="1"/>
              <a:t>uso</a:t>
            </a:r>
            <a:r>
              <a:rPr lang="de-DE" dirty="0"/>
              <a:t> e </a:t>
            </a:r>
            <a:r>
              <a:rPr lang="de-DE" dirty="0" err="1"/>
              <a:t>Funções</a:t>
            </a:r>
          </a:p>
        </p:txBody>
      </p:sp>
    </p:spTree>
    <p:extLst>
      <p:ext uri="{BB962C8B-B14F-4D97-AF65-F5344CB8AC3E}">
        <p14:creationId xmlns:p14="http://schemas.microsoft.com/office/powerpoint/2010/main" val="22108665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90525A-DBA7-D489-5952-609F3AFF5B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Vamos Pensar</a:t>
            </a:r>
          </a:p>
        </p:txBody>
      </p:sp>
      <p:pic>
        <p:nvPicPr>
          <p:cNvPr id="6" name="Espaço Reservado para Conteúdo 5" descr="Bolha de pensamento com preenchimento sólido">
            <a:extLst>
              <a:ext uri="{FF2B5EF4-FFF2-40B4-BE49-F238E27FC236}">
                <a16:creationId xmlns:a16="http://schemas.microsoft.com/office/drawing/2014/main" id="{A55F81E9-7AD0-8596-6473-5AAE108F474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66612" y="-156595"/>
            <a:ext cx="1887557" cy="1566232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A492A17A-2860-DABF-17E3-C7BF322EF1A1}"/>
              </a:ext>
            </a:extLst>
          </p:cNvPr>
          <p:cNvSpPr txBox="1"/>
          <p:nvPr/>
        </p:nvSpPr>
        <p:spPr>
          <a:xfrm>
            <a:off x="1962410" y="2066794"/>
            <a:ext cx="8538575" cy="31393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/>
              <a:t>O que é o GIT?</a:t>
            </a:r>
          </a:p>
          <a:p>
            <a:endParaRPr lang="pt-BR" dirty="0"/>
          </a:p>
          <a:p>
            <a:r>
              <a:rPr lang="pt-BR"/>
              <a:t>Para qual aplicação essa ferramenta foi desenvolvida?</a:t>
            </a:r>
          </a:p>
          <a:p>
            <a:endParaRPr lang="pt-BR" dirty="0"/>
          </a:p>
          <a:p>
            <a:r>
              <a:rPr lang="pt-BR"/>
              <a:t>Qual suas vantagens e desvantagens?</a:t>
            </a:r>
          </a:p>
          <a:p>
            <a:endParaRPr lang="pt-BR" dirty="0"/>
          </a:p>
          <a:p>
            <a:r>
              <a:rPr lang="pt-BR" dirty="0"/>
              <a:t>E o </a:t>
            </a:r>
            <a:r>
              <a:rPr lang="pt-BR"/>
              <a:t>GITHUB? Qual a sua diferença?</a:t>
            </a:r>
            <a:endParaRPr lang="pt-BR" dirty="0"/>
          </a:p>
          <a:p>
            <a:endParaRPr lang="pt-BR" dirty="0"/>
          </a:p>
          <a:p>
            <a:r>
              <a:rPr lang="pt-BR" dirty="0"/>
              <a:t>Como ele pode me auxiliar em problemas do </a:t>
            </a:r>
            <a:r>
              <a:rPr lang="pt-BR"/>
              <a:t>dia a dia</a:t>
            </a:r>
            <a:r>
              <a:rPr lang="pt-BR" dirty="0"/>
              <a:t>?</a:t>
            </a:r>
          </a:p>
          <a:p>
            <a:endParaRPr lang="pt-BR" dirty="0"/>
          </a:p>
          <a:p>
            <a:endParaRPr lang="pt-BR" dirty="0"/>
          </a:p>
        </p:txBody>
      </p:sp>
      <p:pic>
        <p:nvPicPr>
          <p:cNvPr id="8" name="Gráfico 7" descr="Ponto de interrogação com preenchimento sólido">
            <a:extLst>
              <a:ext uri="{FF2B5EF4-FFF2-40B4-BE49-F238E27FC236}">
                <a16:creationId xmlns:a16="http://schemas.microsoft.com/office/drawing/2014/main" id="{61D76B00-BDF3-5073-975E-EDF2CA68C7A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-1560000">
            <a:off x="6327354" y="153319"/>
            <a:ext cx="482907" cy="482907"/>
          </a:xfrm>
          <a:prstGeom prst="rect">
            <a:avLst/>
          </a:prstGeom>
        </p:spPr>
      </p:pic>
      <p:pic>
        <p:nvPicPr>
          <p:cNvPr id="9" name="Gráfico 8" descr="Ponto de interrogação com preenchimento sólido">
            <a:extLst>
              <a:ext uri="{FF2B5EF4-FFF2-40B4-BE49-F238E27FC236}">
                <a16:creationId xmlns:a16="http://schemas.microsoft.com/office/drawing/2014/main" id="{CBE13776-4086-48D4-8B5B-18DFD403847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66052" y="144138"/>
            <a:ext cx="482907" cy="482907"/>
          </a:xfrm>
          <a:prstGeom prst="rect">
            <a:avLst/>
          </a:prstGeom>
        </p:spPr>
      </p:pic>
      <p:pic>
        <p:nvPicPr>
          <p:cNvPr id="10" name="Gráfico 9" descr="Ponto de interrogação com preenchimento sólido">
            <a:extLst>
              <a:ext uri="{FF2B5EF4-FFF2-40B4-BE49-F238E27FC236}">
                <a16:creationId xmlns:a16="http://schemas.microsoft.com/office/drawing/2014/main" id="{547845BF-8218-196C-67D1-D024480A485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100000">
            <a:off x="6804751" y="153319"/>
            <a:ext cx="482907" cy="48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77985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029A89-48FF-E6ED-E0DC-583FEE4BEC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O que é o GIT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7560150-C333-D688-DB75-44043867B3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pt-BR" dirty="0">
                <a:ea typeface="+mn-lt"/>
                <a:cs typeface="+mn-lt"/>
              </a:rPr>
              <a:t>-O </a:t>
            </a:r>
            <a:r>
              <a:rPr lang="pt-BR" i="1" dirty="0" err="1">
                <a:ea typeface="+mn-lt"/>
                <a:cs typeface="+mn-lt"/>
              </a:rPr>
              <a:t>Git</a:t>
            </a:r>
            <a:r>
              <a:rPr lang="pt-BR" i="1" dirty="0">
                <a:ea typeface="+mn-lt"/>
                <a:cs typeface="+mn-lt"/>
              </a:rPr>
              <a:t> </a:t>
            </a:r>
            <a:r>
              <a:rPr lang="pt-BR" dirty="0">
                <a:ea typeface="+mn-lt"/>
                <a:cs typeface="+mn-lt"/>
              </a:rPr>
              <a:t>é um sistema de controle de versão de ampla distribuição. Sendo muito utilizado no desenvolvimento de </a:t>
            </a:r>
            <a:r>
              <a:rPr lang="pt-BR" i="1" dirty="0">
                <a:ea typeface="+mn-lt"/>
                <a:cs typeface="+mn-lt"/>
              </a:rPr>
              <a:t>softwares, especialmente quando se está trabalhando com equipes grandes e há uma necessidade de comunicar e compartilhar os arqui</a:t>
            </a:r>
            <a:r>
              <a:rPr lang="pt-BR" i="1" dirty="0"/>
              <a:t>vos </a:t>
            </a:r>
            <a:r>
              <a:rPr lang="pt-BR" i="1" dirty="0">
                <a:ea typeface="+mn-lt"/>
                <a:cs typeface="+mn-lt"/>
              </a:rPr>
              <a:t>entre os elementos dessa equipe.</a:t>
            </a:r>
            <a:endParaRPr lang="pt-BR" dirty="0"/>
          </a:p>
          <a:p>
            <a:pPr marL="0" indent="0">
              <a:buNone/>
            </a:pPr>
            <a:endParaRPr lang="pt-BR"/>
          </a:p>
          <a:p>
            <a:pPr marL="0" indent="0">
              <a:buNone/>
            </a:pPr>
            <a:r>
              <a:rPr lang="pt-BR" dirty="0"/>
              <a:t>Ele funciona como um repositório de "fotos" que são tiradas dos arquivos no momento que são armazenadas no repositório e essas fotos </a:t>
            </a:r>
            <a:r>
              <a:rPr lang="pt-BR"/>
              <a:t>também podem ser comparadas com a última versão do arquivo para se identificar todas as alterações feitas na </a:t>
            </a:r>
            <a:r>
              <a:rPr lang="pt-BR" err="1"/>
              <a:t>nov</a:t>
            </a:r>
            <a:r>
              <a:rPr lang="pt-BR"/>
              <a:t>a versão.</a:t>
            </a:r>
          </a:p>
          <a:p>
            <a:pPr marL="0" indent="0">
              <a:buNone/>
            </a:pPr>
            <a:endParaRPr lang="pt-BR" i="1" dirty="0"/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8005832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EA9D71-CD0F-AF69-E074-25A1BDAD2C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err="1"/>
              <a:t>Propó</a:t>
            </a:r>
            <a:r>
              <a:rPr lang="pt-BR"/>
              <a:t>sito de desenvolvimento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0C6E499-3BB6-5112-2A22-89ECCD837B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4101211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0" indent="0">
              <a:buNone/>
            </a:pPr>
            <a:r>
              <a:rPr lang="pt-BR"/>
              <a:t>Ele surgiu em 2005, criado por Linus Torvalds, para atender às necessidades do desenvolvimento do Linux.</a:t>
            </a:r>
            <a:endParaRPr lang="pt-BR" dirty="0"/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/>
              <a:t>Quando o desenvolvedor abriu o código para possibilitar que outros usuários o ajudassem no desenvolvimento. Ele se viu necessitando de uma plataforma para gerenciar o enorme </a:t>
            </a:r>
            <a:r>
              <a:rPr lang="pt-BR" err="1"/>
              <a:t>flu</a:t>
            </a:r>
            <a:r>
              <a:rPr lang="pt-BR"/>
              <a:t>xo de versões e atualizações recebidas.</a:t>
            </a:r>
            <a:endParaRPr lang="pt-BR" dirty="0"/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/>
              <a:t>Apesar de existir ferramentas do tipo naquela época, elas eram pagas, às tornando inviáveis para as centenas e eventualmente milhares de </a:t>
            </a:r>
            <a:r>
              <a:rPr lang="pt-BR"/>
              <a:t>contribuidores no projeto.</a:t>
            </a:r>
            <a:endParaRPr lang="pt-BR" dirty="0"/>
          </a:p>
          <a:p>
            <a:pPr marL="0" indent="0">
              <a:buNone/>
            </a:pPr>
            <a:endParaRPr lang="pt-BR"/>
          </a:p>
          <a:p>
            <a:pPr marL="0" indent="0">
              <a:buNone/>
            </a:pPr>
            <a:r>
              <a:rPr lang="pt-BR" dirty="0"/>
              <a:t>Por isso o GIT foi desenvolvido em paralelo com o sistema operacional que ele estava </a:t>
            </a:r>
            <a:r>
              <a:rPr lang="pt-BR"/>
              <a:t>desenvolvendo para auxiliar em sua produção.</a:t>
            </a:r>
            <a:endParaRPr lang="pt-BR" dirty="0"/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170926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6E859C-0A29-65CA-8A3C-0DA5852D74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Componentes Importantes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9822322-40D6-2E76-0123-2C30DF9BFC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>
              <a:buNone/>
            </a:pPr>
            <a:r>
              <a:rPr lang="pt-BR" i="1" dirty="0" err="1"/>
              <a:t>Working</a:t>
            </a:r>
            <a:r>
              <a:rPr lang="pt-BR" i="1" dirty="0"/>
              <a:t> </a:t>
            </a:r>
            <a:r>
              <a:rPr lang="pt-BR" i="1" dirty="0" err="1"/>
              <a:t>Directory</a:t>
            </a:r>
            <a:r>
              <a:rPr lang="pt-BR" i="1" dirty="0"/>
              <a:t> </a:t>
            </a:r>
            <a:r>
              <a:rPr lang="pt-BR" dirty="0"/>
              <a:t>(Diretório de Trabalho):</a:t>
            </a:r>
            <a:r>
              <a:rPr lang="pt-BR" dirty="0">
                <a:ea typeface="+mn-lt"/>
                <a:cs typeface="+mn-lt"/>
              </a:rPr>
              <a:t> É onde você edita os arquivos normalmente no seu computador. Aqui ficam as versões atuais dos arquivos, podendo estar modificadas, mas ainda não registradas no histórico do </a:t>
            </a:r>
            <a:r>
              <a:rPr lang="pt-BR" dirty="0" err="1">
                <a:ea typeface="+mn-lt"/>
                <a:cs typeface="+mn-lt"/>
              </a:rPr>
              <a:t>Git</a:t>
            </a:r>
            <a:r>
              <a:rPr lang="pt-BR" dirty="0">
                <a:ea typeface="+mn-lt"/>
                <a:cs typeface="+mn-lt"/>
              </a:rPr>
              <a:t>.</a:t>
            </a:r>
            <a:endParaRPr lang="pt-BR" dirty="0"/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i="1" dirty="0" err="1"/>
              <a:t>Staging</a:t>
            </a:r>
            <a:r>
              <a:rPr lang="pt-BR" i="1" dirty="0"/>
              <a:t> Area </a:t>
            </a:r>
            <a:r>
              <a:rPr lang="pt-BR" dirty="0"/>
              <a:t>(Área de Preparação): </a:t>
            </a:r>
            <a:r>
              <a:rPr lang="pt-BR" dirty="0">
                <a:ea typeface="+mn-lt"/>
                <a:cs typeface="+mn-lt"/>
              </a:rPr>
              <a:t>É uma área intermediária onde você escolhe quais alterações irão para o próximo </a:t>
            </a:r>
            <a:r>
              <a:rPr lang="pt-BR" i="1" dirty="0" err="1">
                <a:ea typeface="+mn-lt"/>
                <a:cs typeface="+mn-lt"/>
              </a:rPr>
              <a:t>commit</a:t>
            </a:r>
            <a:r>
              <a:rPr lang="pt-BR" dirty="0">
                <a:ea typeface="+mn-lt"/>
                <a:cs typeface="+mn-lt"/>
              </a:rPr>
              <a:t>. Uma analogia que pode se fazer é com o camarim, que é um local reservado onde os artistas se preparam antes de entrarem no palco.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i="1" dirty="0" err="1"/>
              <a:t>Repository</a:t>
            </a:r>
            <a:r>
              <a:rPr lang="pt-BR" i="1" dirty="0"/>
              <a:t> </a:t>
            </a:r>
            <a:r>
              <a:rPr lang="pt-BR" dirty="0"/>
              <a:t>(Repositório):</a:t>
            </a:r>
            <a:r>
              <a:rPr lang="pt-BR" dirty="0">
                <a:ea typeface="+mn-lt"/>
                <a:cs typeface="+mn-lt"/>
              </a:rPr>
              <a:t>É onde o </a:t>
            </a:r>
            <a:r>
              <a:rPr lang="pt-BR" dirty="0" err="1">
                <a:ea typeface="+mn-lt"/>
                <a:cs typeface="+mn-lt"/>
              </a:rPr>
              <a:t>Git</a:t>
            </a:r>
            <a:r>
              <a:rPr lang="pt-BR" dirty="0">
                <a:ea typeface="+mn-lt"/>
                <a:cs typeface="+mn-lt"/>
              </a:rPr>
              <a:t> armazena de fato o histórico dos </a:t>
            </a:r>
            <a:r>
              <a:rPr lang="pt-BR" i="1" dirty="0" err="1">
                <a:ea typeface="+mn-lt"/>
                <a:cs typeface="+mn-lt"/>
              </a:rPr>
              <a:t>commits</a:t>
            </a:r>
            <a:r>
              <a:rPr lang="pt-BR" dirty="0">
                <a:ea typeface="+mn-lt"/>
                <a:cs typeface="+mn-lt"/>
              </a:rPr>
              <a:t>. Fica dentro da pasta oculta </a:t>
            </a:r>
            <a:r>
              <a:rPr lang="pt-BR" dirty="0">
                <a:latin typeface="Consolas"/>
              </a:rPr>
              <a:t>.</a:t>
            </a:r>
            <a:r>
              <a:rPr lang="pt-BR" dirty="0" err="1">
                <a:latin typeface="Consolas"/>
              </a:rPr>
              <a:t>git</a:t>
            </a:r>
            <a:r>
              <a:rPr lang="pt-BR" dirty="0">
                <a:ea typeface="+mn-lt"/>
                <a:cs typeface="+mn-lt"/>
              </a:rPr>
              <a:t> e contém todos os snapshots, versões e informações do projeto.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344204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DA1E4E-B849-23B1-4D6B-CF389155A8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Vantagens</a:t>
            </a:r>
            <a:r>
              <a:rPr lang="pt-BR"/>
              <a:t> e Desvantagens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D545DB1-369D-E0FB-3295-31A6FB0698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85000" lnSpcReduction="20000"/>
          </a:bodyPr>
          <a:lstStyle/>
          <a:p>
            <a:pPr marL="0" indent="0">
              <a:buNone/>
            </a:pPr>
            <a:r>
              <a:rPr lang="pt-BR" dirty="0">
                <a:ea typeface="+mn-lt"/>
                <a:cs typeface="+mn-lt"/>
              </a:rPr>
              <a:t>As princip</a:t>
            </a:r>
            <a:r>
              <a:rPr lang="pt-BR">
                <a:ea typeface="+mn-lt"/>
                <a:cs typeface="+mn-lt"/>
              </a:rPr>
              <a:t>ais vantagens são:</a:t>
            </a:r>
            <a:endParaRPr lang="pt-BR" dirty="0">
              <a:ea typeface="+mn-lt"/>
              <a:cs typeface="+mn-lt"/>
            </a:endParaRPr>
          </a:p>
          <a:p>
            <a:pPr marL="0" indent="0">
              <a:buNone/>
            </a:pPr>
            <a:endParaRPr lang="pt-BR" dirty="0">
              <a:ea typeface="+mn-lt"/>
              <a:cs typeface="+mn-lt"/>
            </a:endParaRPr>
          </a:p>
          <a:p>
            <a:pPr>
              <a:buAutoNum type="romanUcPeriod"/>
            </a:pPr>
            <a:r>
              <a:rPr lang="pt-BR" dirty="0">
                <a:ea typeface="+mn-lt"/>
                <a:cs typeface="+mn-lt"/>
              </a:rPr>
              <a:t>Controle </a:t>
            </a:r>
            <a:r>
              <a:rPr lang="pt-BR">
                <a:ea typeface="+mn-lt"/>
                <a:cs typeface="+mn-lt"/>
              </a:rPr>
              <a:t>de mudanças no código preciso.</a:t>
            </a:r>
            <a:endParaRPr lang="pt-BR" dirty="0"/>
          </a:p>
          <a:p>
            <a:pPr>
              <a:buAutoNum type="romanUcPeriod"/>
            </a:pPr>
            <a:endParaRPr lang="pt-BR" dirty="0">
              <a:ea typeface="+mn-lt"/>
              <a:cs typeface="+mn-lt"/>
            </a:endParaRPr>
          </a:p>
          <a:p>
            <a:pPr>
              <a:buAutoNum type="romanUcPeriod"/>
            </a:pPr>
            <a:r>
              <a:rPr lang="pt-BR" dirty="0">
                <a:ea typeface="+mn-lt"/>
                <a:cs typeface="+mn-lt"/>
              </a:rPr>
              <a:t>Permissão</a:t>
            </a:r>
            <a:r>
              <a:rPr lang="pt-BR">
                <a:ea typeface="+mn-lt"/>
                <a:cs typeface="+mn-lt"/>
              </a:rPr>
              <a:t> do trabalho colaborativo simultâneo.</a:t>
            </a:r>
            <a:endParaRPr lang="pt-BR" dirty="0"/>
          </a:p>
          <a:p>
            <a:pPr>
              <a:buAutoNum type="romanUcPeriod"/>
            </a:pPr>
            <a:endParaRPr lang="pt-BR" dirty="0">
              <a:ea typeface="+mn-lt"/>
              <a:cs typeface="+mn-lt"/>
            </a:endParaRPr>
          </a:p>
          <a:p>
            <a:pPr>
              <a:buAutoNum type="romanUcPeriod"/>
            </a:pPr>
            <a:r>
              <a:rPr lang="pt-BR">
                <a:ea typeface="+mn-lt"/>
                <a:cs typeface="+mn-lt"/>
              </a:rPr>
              <a:t>Garantia da integridade e rastreabilidade das alterações.</a:t>
            </a:r>
            <a:endParaRPr lang="pt-BR"/>
          </a:p>
          <a:p>
            <a:pPr>
              <a:buAutoNum type="romanUcPeriod"/>
            </a:pPr>
            <a:endParaRPr lang="pt-BR" dirty="0">
              <a:ea typeface="+mn-lt"/>
              <a:cs typeface="+mn-lt"/>
            </a:endParaRPr>
          </a:p>
          <a:p>
            <a:pPr>
              <a:buAutoNum type="romanUcPeriod"/>
            </a:pPr>
            <a:r>
              <a:rPr lang="pt-BR">
                <a:ea typeface="+mn-lt"/>
                <a:cs typeface="+mn-lt"/>
              </a:rPr>
              <a:t>Oferta de alto desempenho, mesmo em projetos grandes.</a:t>
            </a:r>
            <a:endParaRPr lang="pt-BR"/>
          </a:p>
          <a:p>
            <a:pPr>
              <a:buAutoNum type="romanUcPeriod"/>
            </a:pPr>
            <a:endParaRPr lang="pt-BR" dirty="0"/>
          </a:p>
          <a:p>
            <a:pPr>
              <a:buAutoNum type="romanUcPeriod"/>
            </a:pPr>
            <a:r>
              <a:rPr lang="pt-BR" dirty="0"/>
              <a:t>Ser </a:t>
            </a:r>
            <a:r>
              <a:rPr lang="pt-BR" i="1" dirty="0"/>
              <a:t>Open </a:t>
            </a:r>
            <a:r>
              <a:rPr lang="pt-BR" i="1" dirty="0" err="1"/>
              <a:t>Source</a:t>
            </a:r>
            <a:r>
              <a:rPr lang="pt-BR" i="1" dirty="0"/>
              <a:t> (Código Aberto), permitindo a fácil e gratuita aquisição dessa ferramenta.</a:t>
            </a:r>
          </a:p>
        </p:txBody>
      </p:sp>
    </p:spTree>
    <p:extLst>
      <p:ext uri="{BB962C8B-B14F-4D97-AF65-F5344CB8AC3E}">
        <p14:creationId xmlns:p14="http://schemas.microsoft.com/office/powerpoint/2010/main" val="20710125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9517D2-ECCC-7F60-46DA-806CFAB694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Vantagens e Desvantagens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9972ADF-8959-A268-2C01-F3F01BDB9B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pt-BR"/>
              <a:t>As desvantagens são:</a:t>
            </a:r>
          </a:p>
          <a:p>
            <a:pPr marL="0" indent="0">
              <a:buNone/>
            </a:pPr>
            <a:endParaRPr lang="pt-BR" dirty="0"/>
          </a:p>
          <a:p>
            <a:pPr>
              <a:buAutoNum type="romanUcPeriod"/>
            </a:pPr>
            <a:r>
              <a:rPr lang="pt-BR" dirty="0"/>
              <a:t>Difícil aprendizado por usar de vários conceitos que podem ser confusos para um iniciante como: </a:t>
            </a:r>
            <a:r>
              <a:rPr lang="pt-BR" i="1" dirty="0"/>
              <a:t>Branch, Merge, </a:t>
            </a:r>
            <a:r>
              <a:rPr lang="pt-BR" i="1" dirty="0" err="1"/>
              <a:t>Commit</a:t>
            </a:r>
            <a:r>
              <a:rPr lang="pt-BR" i="1" dirty="0"/>
              <a:t>, reset...</a:t>
            </a:r>
          </a:p>
          <a:p>
            <a:pPr>
              <a:buAutoNum type="romanUcPeriod"/>
            </a:pPr>
            <a:endParaRPr lang="pt-BR" i="1" dirty="0"/>
          </a:p>
          <a:p>
            <a:pPr>
              <a:buAutoNum type="romanUcPeriod"/>
            </a:pPr>
            <a:r>
              <a:rPr lang="pt-BR" i="1" dirty="0"/>
              <a:t>Exige um grande conhecimento técnico devido </a:t>
            </a:r>
            <a:r>
              <a:rPr lang="pt-BR" i="1"/>
              <a:t>ao uso de</a:t>
            </a:r>
            <a:r>
              <a:rPr lang="pt-BR" i="1" dirty="0"/>
              <a:t> linhas de comando. </a:t>
            </a:r>
          </a:p>
          <a:p>
            <a:pPr>
              <a:buAutoNum type="romanUcPeriod"/>
            </a:pPr>
            <a:endParaRPr lang="pt-BR" i="1" dirty="0"/>
          </a:p>
          <a:p>
            <a:pPr>
              <a:buAutoNum type="romanUcPeriod"/>
            </a:pPr>
            <a:r>
              <a:rPr lang="pt-BR" i="1"/>
              <a:t>Não lida bem com arquivos muito grandes, como vídeos, por ter sido projetado para trabalhar com código-fonte.</a:t>
            </a:r>
            <a:endParaRPr lang="pt-BR" i="1" dirty="0"/>
          </a:p>
          <a:p>
            <a:pPr>
              <a:buAutoNum type="romanUcPeriod"/>
            </a:pPr>
            <a:endParaRPr lang="pt-BR" i="1" dirty="0"/>
          </a:p>
          <a:p>
            <a:pPr>
              <a:buAutoNum type="romanUcPeriod"/>
            </a:pPr>
            <a:endParaRPr lang="pt-BR" i="1" dirty="0"/>
          </a:p>
          <a:p>
            <a:pPr marL="0" indent="0">
              <a:buNone/>
            </a:pPr>
            <a:endParaRPr lang="pt-BR" i="1" dirty="0"/>
          </a:p>
          <a:p>
            <a:pPr marL="0" indent="0">
              <a:buNone/>
            </a:pPr>
            <a:endParaRPr lang="pt-BR" i="1" dirty="0"/>
          </a:p>
          <a:p>
            <a:pPr marL="0" indent="0">
              <a:buNone/>
            </a:pPr>
            <a:endParaRPr lang="pt-BR" i="1" dirty="0"/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8011467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FDA2E7-7FC8-81F9-CC6E-797FDA5C7C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Alguns comandos</a:t>
            </a:r>
            <a:r>
              <a:rPr lang="pt-BR" dirty="0"/>
              <a:t>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7B71593-3AED-1F1C-5EE5-408A18F05E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449539"/>
          </a:xfrm>
          <a:solidFill>
            <a:schemeClr val="tx1">
              <a:lumMod val="50000"/>
            </a:schemeClr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>
              <a:buFont typeface="Wingdings" charset="2"/>
              <a:buChar char="v"/>
            </a:pPr>
            <a:r>
              <a:rPr lang="pt-BR" sz="1600" b="1" dirty="0" err="1">
                <a:solidFill>
                  <a:srgbClr val="FFC000"/>
                </a:solidFill>
                <a:latin typeface="Consolas"/>
              </a:rPr>
              <a:t>git</a:t>
            </a:r>
            <a:r>
              <a:rPr lang="pt-BR" sz="1600" b="1" dirty="0">
                <a:solidFill>
                  <a:srgbClr val="FFC000"/>
                </a:solidFill>
                <a:latin typeface="Consolas"/>
              </a:rPr>
              <a:t> </a:t>
            </a:r>
            <a:r>
              <a:rPr lang="pt-BR" sz="1600" b="1" dirty="0" err="1">
                <a:solidFill>
                  <a:srgbClr val="FFC000"/>
                </a:solidFill>
                <a:latin typeface="Consolas"/>
              </a:rPr>
              <a:t>init</a:t>
            </a:r>
            <a:r>
              <a:rPr lang="pt-BR" b="1" i="1" dirty="0">
                <a:solidFill>
                  <a:schemeClr val="bg1"/>
                </a:solidFill>
              </a:rPr>
              <a:t>: </a:t>
            </a:r>
            <a:r>
              <a:rPr lang="pt-BR" b="1" dirty="0">
                <a:solidFill>
                  <a:schemeClr val="bg1"/>
                </a:solidFill>
              </a:rPr>
              <a:t>[nome do projeto] Cria um novo repositório local.</a:t>
            </a:r>
          </a:p>
          <a:p>
            <a:pPr>
              <a:buFont typeface="Wingdings" charset="2"/>
              <a:buChar char="v"/>
            </a:pPr>
            <a:r>
              <a:rPr lang="pt-BR" sz="1600" b="1" dirty="0" err="1">
                <a:solidFill>
                  <a:srgbClr val="FFC000"/>
                </a:solidFill>
                <a:latin typeface="Consolas"/>
              </a:rPr>
              <a:t>git</a:t>
            </a:r>
            <a:r>
              <a:rPr lang="pt-BR" sz="1600" b="1" dirty="0">
                <a:solidFill>
                  <a:srgbClr val="FFC000"/>
                </a:solidFill>
                <a:latin typeface="Consolas"/>
              </a:rPr>
              <a:t> clone [</a:t>
            </a:r>
            <a:r>
              <a:rPr lang="pt-BR" sz="1600" b="1" dirty="0" err="1">
                <a:solidFill>
                  <a:srgbClr val="FFC000"/>
                </a:solidFill>
                <a:latin typeface="Consolas"/>
              </a:rPr>
              <a:t>url</a:t>
            </a:r>
            <a:r>
              <a:rPr lang="pt-BR" sz="1600" b="1" dirty="0">
                <a:solidFill>
                  <a:srgbClr val="FFC000"/>
                </a:solidFill>
                <a:latin typeface="Consolas"/>
              </a:rPr>
              <a:t>]</a:t>
            </a:r>
            <a:r>
              <a:rPr lang="pt-BR" b="1" i="1" dirty="0">
                <a:solidFill>
                  <a:schemeClr val="bg1"/>
                </a:solidFill>
              </a:rPr>
              <a:t>: </a:t>
            </a:r>
            <a:r>
              <a:rPr lang="pt-BR" b="1" dirty="0">
                <a:solidFill>
                  <a:schemeClr val="bg1"/>
                </a:solidFill>
              </a:rPr>
              <a:t>clona de um repositório remoto para um repositório local.</a:t>
            </a:r>
          </a:p>
          <a:p>
            <a:pPr>
              <a:buFont typeface="Wingdings" charset="2"/>
              <a:buChar char="v"/>
            </a:pPr>
            <a:r>
              <a:rPr lang="pt-BR" sz="1600" b="1" dirty="0" err="1">
                <a:solidFill>
                  <a:srgbClr val="FFC000"/>
                </a:solidFill>
                <a:latin typeface="Consolas"/>
              </a:rPr>
              <a:t>Git</a:t>
            </a:r>
            <a:r>
              <a:rPr lang="pt-BR" sz="1600" b="1" dirty="0">
                <a:solidFill>
                  <a:srgbClr val="FFC000"/>
                </a:solidFill>
                <a:latin typeface="Consolas"/>
              </a:rPr>
              <a:t> </a:t>
            </a:r>
            <a:r>
              <a:rPr lang="pt-BR" sz="1600" b="1" dirty="0" err="1">
                <a:solidFill>
                  <a:srgbClr val="FFC000"/>
                </a:solidFill>
                <a:latin typeface="Consolas"/>
              </a:rPr>
              <a:t>commit</a:t>
            </a:r>
            <a:r>
              <a:rPr lang="pt-BR" sz="1600" b="1" dirty="0">
                <a:solidFill>
                  <a:srgbClr val="FFC000"/>
                </a:solidFill>
                <a:latin typeface="Consolas"/>
              </a:rPr>
              <a:t> –m</a:t>
            </a:r>
            <a:r>
              <a:rPr lang="pt-BR" b="1" dirty="0">
                <a:solidFill>
                  <a:schemeClr val="bg1"/>
                </a:solidFill>
              </a:rPr>
              <a:t>: salva uma foto dos arquivos guardados na área de preparo no repositório local e escreve uma mensagem para o mesmo.</a:t>
            </a:r>
          </a:p>
          <a:p>
            <a:pPr>
              <a:buFont typeface="Wingdings" charset="2"/>
              <a:buChar char="v"/>
            </a:pPr>
            <a:r>
              <a:rPr lang="pt-BR" sz="1600" b="1" dirty="0" err="1">
                <a:solidFill>
                  <a:srgbClr val="FFC000"/>
                </a:solidFill>
                <a:latin typeface="Consolas"/>
              </a:rPr>
              <a:t>git</a:t>
            </a:r>
            <a:r>
              <a:rPr lang="pt-BR" sz="1600" b="1" dirty="0">
                <a:solidFill>
                  <a:srgbClr val="FFC000"/>
                </a:solidFill>
                <a:latin typeface="Consolas"/>
              </a:rPr>
              <a:t> status</a:t>
            </a:r>
            <a:r>
              <a:rPr lang="pt-BR" b="1" i="1" dirty="0">
                <a:solidFill>
                  <a:schemeClr val="bg1"/>
                </a:solidFill>
              </a:rPr>
              <a:t>:</a:t>
            </a:r>
            <a:r>
              <a:rPr lang="pt-BR" b="1" dirty="0">
                <a:solidFill>
                  <a:schemeClr val="bg1"/>
                </a:solidFill>
              </a:rPr>
              <a:t> mostra todos os arquivos que não foram salvos no repositório</a:t>
            </a:r>
            <a:r>
              <a:rPr lang="pt-BR" b="1" i="1" dirty="0">
                <a:solidFill>
                  <a:schemeClr val="bg1"/>
                </a:solidFill>
              </a:rPr>
              <a:t>.</a:t>
            </a:r>
          </a:p>
          <a:p>
            <a:pPr>
              <a:buFont typeface="Wingdings" charset="2"/>
              <a:buChar char="v"/>
            </a:pPr>
            <a:r>
              <a:rPr lang="pt-BR" sz="1600" b="1" dirty="0" err="1">
                <a:solidFill>
                  <a:srgbClr val="FFC000"/>
                </a:solidFill>
                <a:latin typeface="Consolas"/>
              </a:rPr>
              <a:t>git</a:t>
            </a:r>
            <a:r>
              <a:rPr lang="pt-BR" sz="1600" b="1" dirty="0">
                <a:solidFill>
                  <a:srgbClr val="FFC000"/>
                </a:solidFill>
                <a:latin typeface="Consolas"/>
              </a:rPr>
              <a:t> </a:t>
            </a:r>
            <a:r>
              <a:rPr lang="pt-BR" sz="1600" b="1" dirty="0" err="1">
                <a:solidFill>
                  <a:srgbClr val="FFC000"/>
                </a:solidFill>
                <a:latin typeface="Consolas"/>
              </a:rPr>
              <a:t>diff</a:t>
            </a:r>
            <a:r>
              <a:rPr lang="pt-BR" sz="1600" b="1" dirty="0">
                <a:solidFill>
                  <a:srgbClr val="FFC000"/>
                </a:solidFill>
                <a:latin typeface="Consolas"/>
              </a:rPr>
              <a:t> </a:t>
            </a:r>
            <a:r>
              <a:rPr lang="pt-BR" b="1" i="1" dirty="0">
                <a:solidFill>
                  <a:schemeClr val="bg1"/>
                </a:solidFill>
              </a:rPr>
              <a:t>: </a:t>
            </a:r>
            <a:r>
              <a:rPr lang="pt-BR" b="1" dirty="0">
                <a:solidFill>
                  <a:schemeClr val="bg1"/>
                </a:solidFill>
              </a:rPr>
              <a:t>mostra as alterações em </a:t>
            </a:r>
            <a:r>
              <a:rPr lang="pt-BR" b="1" dirty="0" err="1">
                <a:solidFill>
                  <a:schemeClr val="bg1"/>
                </a:solidFill>
              </a:rPr>
              <a:t>arqui</a:t>
            </a:r>
            <a:r>
              <a:rPr lang="pt-BR" b="1" dirty="0">
                <a:solidFill>
                  <a:schemeClr val="bg1"/>
                </a:solidFill>
              </a:rPr>
              <a:t>vos que ainda não estão na área de preparo.</a:t>
            </a:r>
          </a:p>
          <a:p>
            <a:pPr>
              <a:buFont typeface="Wingdings" charset="2"/>
              <a:buChar char="v"/>
            </a:pPr>
            <a:r>
              <a:rPr lang="pt-BR" sz="1600" b="1" dirty="0" err="1">
                <a:solidFill>
                  <a:srgbClr val="FFC000"/>
                </a:solidFill>
                <a:latin typeface="Consolas"/>
              </a:rPr>
              <a:t>git</a:t>
            </a:r>
            <a:r>
              <a:rPr lang="pt-BR" sz="1600" b="1" dirty="0">
                <a:solidFill>
                  <a:srgbClr val="FFC000"/>
                </a:solidFill>
                <a:latin typeface="Consolas"/>
              </a:rPr>
              <a:t> </a:t>
            </a:r>
            <a:r>
              <a:rPr lang="pt-BR" sz="1600" b="1" dirty="0" err="1">
                <a:solidFill>
                  <a:srgbClr val="FFC000"/>
                </a:solidFill>
                <a:latin typeface="Consolas"/>
              </a:rPr>
              <a:t>diff</a:t>
            </a:r>
            <a:r>
              <a:rPr lang="pt-BR" sz="1600" b="1" dirty="0">
                <a:solidFill>
                  <a:srgbClr val="FFC000"/>
                </a:solidFill>
                <a:latin typeface="Consolas"/>
              </a:rPr>
              <a:t> –</a:t>
            </a:r>
            <a:r>
              <a:rPr lang="pt-BR" sz="1600" b="1" dirty="0" err="1">
                <a:solidFill>
                  <a:srgbClr val="FFC000"/>
                </a:solidFill>
                <a:latin typeface="Consolas"/>
              </a:rPr>
              <a:t>cached</a:t>
            </a:r>
            <a:r>
              <a:rPr lang="pt-BR" b="1" i="1" dirty="0">
                <a:solidFill>
                  <a:schemeClr val="bg1"/>
                </a:solidFill>
              </a:rPr>
              <a:t>:</a:t>
            </a:r>
            <a:r>
              <a:rPr lang="pt-BR" b="1" dirty="0">
                <a:solidFill>
                  <a:schemeClr val="bg1"/>
                </a:solidFill>
              </a:rPr>
              <a:t> mostra as alterações em arquivos na área de preparo.</a:t>
            </a:r>
          </a:p>
          <a:p>
            <a:pPr>
              <a:buFont typeface="Wingdings" charset="2"/>
              <a:buChar char="v"/>
            </a:pPr>
            <a:r>
              <a:rPr lang="pt-BR" sz="1600" b="1" dirty="0" err="1">
                <a:solidFill>
                  <a:srgbClr val="FFC000"/>
                </a:solidFill>
                <a:latin typeface="Consolas"/>
              </a:rPr>
              <a:t>git</a:t>
            </a:r>
            <a:r>
              <a:rPr lang="pt-BR" sz="1600" b="1" dirty="0">
                <a:solidFill>
                  <a:srgbClr val="FFC000"/>
                </a:solidFill>
                <a:latin typeface="Consolas"/>
              </a:rPr>
              <a:t> </a:t>
            </a:r>
            <a:r>
              <a:rPr lang="pt-BR" sz="1600" b="1" dirty="0" err="1">
                <a:solidFill>
                  <a:srgbClr val="FFC000"/>
                </a:solidFill>
                <a:latin typeface="Consolas"/>
              </a:rPr>
              <a:t>diff</a:t>
            </a:r>
            <a:r>
              <a:rPr lang="pt-BR" sz="1600" b="1" dirty="0">
                <a:solidFill>
                  <a:srgbClr val="FFC000"/>
                </a:solidFill>
                <a:latin typeface="Consolas"/>
              </a:rPr>
              <a:t> </a:t>
            </a:r>
            <a:r>
              <a:rPr lang="pt-BR" sz="1600" b="1" dirty="0" err="1">
                <a:solidFill>
                  <a:srgbClr val="FFC000"/>
                </a:solidFill>
                <a:latin typeface="Consolas"/>
              </a:rPr>
              <a:t>commit</a:t>
            </a:r>
            <a:r>
              <a:rPr lang="pt-BR" sz="1600" b="1" dirty="0">
                <a:solidFill>
                  <a:srgbClr val="FFC000"/>
                </a:solidFill>
                <a:latin typeface="Consolas"/>
              </a:rPr>
              <a:t>1 commit2</a:t>
            </a:r>
            <a:r>
              <a:rPr lang="pt-BR" b="1" i="1" dirty="0">
                <a:solidFill>
                  <a:schemeClr val="bg1"/>
                </a:solidFill>
              </a:rPr>
              <a:t>:</a:t>
            </a:r>
            <a:r>
              <a:rPr lang="pt-BR" b="1" dirty="0">
                <a:solidFill>
                  <a:schemeClr val="bg1"/>
                </a:solidFill>
              </a:rPr>
              <a:t> mostra a </a:t>
            </a:r>
            <a:r>
              <a:rPr lang="pt-BR" b="1" dirty="0" err="1">
                <a:solidFill>
                  <a:schemeClr val="bg1"/>
                </a:solidFill>
              </a:rPr>
              <a:t>differença</a:t>
            </a:r>
            <a:r>
              <a:rPr lang="pt-BR" b="1" dirty="0">
                <a:solidFill>
                  <a:schemeClr val="bg1"/>
                </a:solidFill>
              </a:rPr>
              <a:t> </a:t>
            </a:r>
            <a:r>
              <a:rPr lang="pt-BR" b="1" dirty="0" err="1">
                <a:solidFill>
                  <a:schemeClr val="bg1"/>
                </a:solidFill>
              </a:rPr>
              <a:t>entr</a:t>
            </a:r>
            <a:r>
              <a:rPr lang="pt-BR" b="1" dirty="0">
                <a:solidFill>
                  <a:schemeClr val="bg1"/>
                </a:solidFill>
              </a:rPr>
              <a:t>e dois </a:t>
            </a:r>
            <a:r>
              <a:rPr lang="pt-BR" b="1" i="1" dirty="0" err="1">
                <a:solidFill>
                  <a:schemeClr val="bg1"/>
                </a:solidFill>
              </a:rPr>
              <a:t>commits</a:t>
            </a:r>
            <a:endParaRPr lang="pt-BR" b="1" i="1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457539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46584F-2CC3-22FF-0F7E-DCE89C6BCC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3600" b="0" i="0" u="none" strike="noStrike" baseline="0">
                <a:solidFill>
                  <a:srgbClr val="FFFFFF"/>
                </a:solidFill>
                <a:latin typeface="Century Gothic"/>
                <a:ea typeface="Century Gothic"/>
                <a:cs typeface="Century Gothic"/>
              </a:rPr>
              <a:t>Alguns comandos </a:t>
            </a:r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D305F9A-3AAB-9049-CB5F-02F98746F5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650622"/>
          </a:xfrm>
          <a:solidFill>
            <a:schemeClr val="tx1">
              <a:lumMod val="50000"/>
            </a:schemeClr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 anchor="t">
            <a:normAutofit lnSpcReduction="10000"/>
          </a:bodyPr>
          <a:lstStyle/>
          <a:p>
            <a:pPr>
              <a:buFont typeface="Wingdings" charset="2"/>
              <a:buChar char="v"/>
            </a:pPr>
            <a:r>
              <a:rPr lang="pt-BR" sz="1600" b="1" dirty="0" err="1">
                <a:solidFill>
                  <a:srgbClr val="FFC000"/>
                </a:solidFill>
                <a:latin typeface="Consolas"/>
              </a:rPr>
              <a:t>git</a:t>
            </a:r>
            <a:r>
              <a:rPr lang="pt-BR" sz="1600" b="1" dirty="0">
                <a:solidFill>
                  <a:srgbClr val="FFC000"/>
                </a:solidFill>
                <a:latin typeface="Consolas"/>
              </a:rPr>
              <a:t> </a:t>
            </a:r>
            <a:r>
              <a:rPr lang="pt-BR" sz="1600" b="1" dirty="0" err="1">
                <a:solidFill>
                  <a:srgbClr val="FFC000"/>
                </a:solidFill>
                <a:latin typeface="Consolas"/>
              </a:rPr>
              <a:t>branch</a:t>
            </a:r>
            <a:r>
              <a:rPr lang="pt-BR" b="1" dirty="0">
                <a:solidFill>
                  <a:schemeClr val="bg1"/>
                </a:solidFill>
              </a:rPr>
              <a:t>: mostra todas as ramificações locais.</a:t>
            </a:r>
          </a:p>
          <a:p>
            <a:pPr>
              <a:buFont typeface="Wingdings" charset="2"/>
              <a:buChar char="v"/>
            </a:pPr>
            <a:r>
              <a:rPr lang="pt-BR" sz="1600" b="1" dirty="0" err="1">
                <a:solidFill>
                  <a:srgbClr val="FFC000"/>
                </a:solidFill>
                <a:latin typeface="Consolas"/>
              </a:rPr>
              <a:t>git</a:t>
            </a:r>
            <a:r>
              <a:rPr lang="pt-BR" sz="1600" b="1" dirty="0">
                <a:solidFill>
                  <a:srgbClr val="FFC000"/>
                </a:solidFill>
                <a:latin typeface="Consolas"/>
              </a:rPr>
              <a:t> </a:t>
            </a:r>
            <a:r>
              <a:rPr lang="pt-BR" sz="1600" b="1" dirty="0" err="1">
                <a:solidFill>
                  <a:srgbClr val="FFC000"/>
                </a:solidFill>
                <a:latin typeface="Consolas"/>
              </a:rPr>
              <a:t>branch</a:t>
            </a:r>
            <a:r>
              <a:rPr lang="pt-BR" sz="1600" b="1" dirty="0">
                <a:solidFill>
                  <a:srgbClr val="FFC000"/>
                </a:solidFill>
                <a:latin typeface="Consolas"/>
              </a:rPr>
              <a:t> (</a:t>
            </a:r>
            <a:r>
              <a:rPr lang="pt-BR" sz="1600" b="1" dirty="0" err="1">
                <a:solidFill>
                  <a:srgbClr val="FFC000"/>
                </a:solidFill>
                <a:latin typeface="Consolas"/>
              </a:rPr>
              <a:t>new_branch</a:t>
            </a:r>
            <a:r>
              <a:rPr lang="pt-BR" sz="1600" b="1" dirty="0">
                <a:solidFill>
                  <a:srgbClr val="FFC000"/>
                </a:solidFill>
                <a:latin typeface="Consolas"/>
              </a:rPr>
              <a:t>)</a:t>
            </a:r>
            <a:r>
              <a:rPr lang="pt-BR" b="1" dirty="0">
                <a:solidFill>
                  <a:schemeClr val="bg1"/>
                </a:solidFill>
              </a:rPr>
              <a:t>: cria uma nova ramificação do projeto chamada </a:t>
            </a:r>
            <a:r>
              <a:rPr lang="pt-BR" b="1" i="1" dirty="0" err="1">
                <a:solidFill>
                  <a:schemeClr val="bg1"/>
                </a:solidFill>
              </a:rPr>
              <a:t>new_branch</a:t>
            </a:r>
            <a:r>
              <a:rPr lang="pt-BR" b="1" i="1" dirty="0">
                <a:solidFill>
                  <a:schemeClr val="bg1"/>
                </a:solidFill>
              </a:rPr>
              <a:t>.</a:t>
            </a:r>
          </a:p>
          <a:p>
            <a:pPr>
              <a:buFont typeface="Wingdings" charset="2"/>
              <a:buChar char="v"/>
            </a:pPr>
            <a:r>
              <a:rPr lang="pt-BR" sz="1600" b="1" dirty="0" err="1">
                <a:solidFill>
                  <a:srgbClr val="FFC000"/>
                </a:solidFill>
                <a:latin typeface="Consolas"/>
              </a:rPr>
              <a:t>git</a:t>
            </a:r>
            <a:r>
              <a:rPr lang="pt-BR" sz="1600" b="1" dirty="0">
                <a:solidFill>
                  <a:srgbClr val="FFC000"/>
                </a:solidFill>
                <a:latin typeface="Consolas"/>
              </a:rPr>
              <a:t> checkout </a:t>
            </a:r>
            <a:r>
              <a:rPr lang="pt-BR" sz="1600" b="1" dirty="0" err="1">
                <a:solidFill>
                  <a:srgbClr val="FFC000"/>
                </a:solidFill>
                <a:latin typeface="Consolas"/>
              </a:rPr>
              <a:t>branch_A</a:t>
            </a:r>
            <a:r>
              <a:rPr lang="pt-BR" b="1" i="1" dirty="0">
                <a:solidFill>
                  <a:schemeClr val="bg1"/>
                </a:solidFill>
              </a:rPr>
              <a:t>: </a:t>
            </a:r>
            <a:r>
              <a:rPr lang="pt-BR" b="1" dirty="0">
                <a:solidFill>
                  <a:schemeClr val="bg1"/>
                </a:solidFill>
              </a:rPr>
              <a:t>muda para uma versão diferente do projeto podendo visualizar também uma versão anterior.</a:t>
            </a:r>
          </a:p>
          <a:p>
            <a:pPr>
              <a:buFont typeface="Wingdings" charset="2"/>
              <a:buChar char="v"/>
            </a:pPr>
            <a:r>
              <a:rPr lang="pt-BR" sz="1600" b="1" dirty="0" err="1">
                <a:solidFill>
                  <a:srgbClr val="FFC000"/>
                </a:solidFill>
                <a:latin typeface="Consolas"/>
              </a:rPr>
              <a:t>git</a:t>
            </a:r>
            <a:r>
              <a:rPr lang="pt-BR" sz="1600" b="1" dirty="0">
                <a:solidFill>
                  <a:srgbClr val="FFC000"/>
                </a:solidFill>
                <a:latin typeface="Consolas"/>
              </a:rPr>
              <a:t> </a:t>
            </a:r>
            <a:r>
              <a:rPr lang="pt-BR" sz="1600" b="1" dirty="0" err="1">
                <a:solidFill>
                  <a:srgbClr val="FFC000"/>
                </a:solidFill>
                <a:latin typeface="Consolas"/>
              </a:rPr>
              <a:t>tag</a:t>
            </a:r>
            <a:r>
              <a:rPr lang="pt-BR" sz="1600" b="1" dirty="0">
                <a:solidFill>
                  <a:srgbClr val="FFC000"/>
                </a:solidFill>
                <a:latin typeface="Consolas"/>
              </a:rPr>
              <a:t> </a:t>
            </a:r>
            <a:r>
              <a:rPr lang="pt-BR" sz="1600" b="1" dirty="0" err="1">
                <a:solidFill>
                  <a:srgbClr val="FFC000"/>
                </a:solidFill>
                <a:latin typeface="Consolas"/>
              </a:rPr>
              <a:t>new_tag</a:t>
            </a:r>
            <a:r>
              <a:rPr lang="pt-BR" b="1" i="1" dirty="0">
                <a:solidFill>
                  <a:schemeClr val="bg1"/>
                </a:solidFill>
              </a:rPr>
              <a:t>: </a:t>
            </a:r>
            <a:r>
              <a:rPr lang="pt-BR" b="1" dirty="0">
                <a:solidFill>
                  <a:schemeClr val="bg1"/>
                </a:solidFill>
              </a:rPr>
              <a:t>cria uma 'etiqueta' para a versão em que se está visualizando chamada </a:t>
            </a:r>
            <a:r>
              <a:rPr lang="pt-BR" b="1" i="1" dirty="0" err="1">
                <a:solidFill>
                  <a:schemeClr val="bg1"/>
                </a:solidFill>
              </a:rPr>
              <a:t>new_tag</a:t>
            </a:r>
            <a:r>
              <a:rPr lang="pt-BR" b="1" i="1" dirty="0">
                <a:solidFill>
                  <a:schemeClr val="bg1"/>
                </a:solidFill>
              </a:rPr>
              <a:t>.</a:t>
            </a:r>
          </a:p>
          <a:p>
            <a:pPr>
              <a:buFont typeface="Wingdings" charset="2"/>
              <a:buChar char="v"/>
            </a:pPr>
            <a:r>
              <a:rPr lang="pt-BR" sz="1600" b="1" dirty="0" err="1">
                <a:solidFill>
                  <a:srgbClr val="FFC000"/>
                </a:solidFill>
                <a:latin typeface="Consolas"/>
              </a:rPr>
              <a:t>git</a:t>
            </a:r>
            <a:r>
              <a:rPr lang="pt-BR" sz="1600" b="1" dirty="0">
                <a:solidFill>
                  <a:srgbClr val="FFC000"/>
                </a:solidFill>
                <a:latin typeface="Consolas"/>
              </a:rPr>
              <a:t> log</a:t>
            </a:r>
            <a:r>
              <a:rPr lang="pt-BR" b="1" i="1" dirty="0">
                <a:solidFill>
                  <a:schemeClr val="bg1"/>
                </a:solidFill>
              </a:rPr>
              <a:t>: </a:t>
            </a:r>
            <a:r>
              <a:rPr lang="pt-BR" b="1" dirty="0">
                <a:solidFill>
                  <a:schemeClr val="bg1"/>
                </a:solidFill>
              </a:rPr>
              <a:t>mostra todas as alterações feitas em um projeto.</a:t>
            </a:r>
          </a:p>
          <a:p>
            <a:pPr>
              <a:buFont typeface="Wingdings" charset="2"/>
              <a:buChar char="v"/>
            </a:pPr>
            <a:r>
              <a:rPr lang="pt-BR" sz="1600" b="1" dirty="0" err="1">
                <a:solidFill>
                  <a:srgbClr val="FFC000"/>
                </a:solidFill>
                <a:latin typeface="Consolas"/>
              </a:rPr>
              <a:t>git</a:t>
            </a:r>
            <a:r>
              <a:rPr lang="pt-BR" sz="1600" b="1" dirty="0">
                <a:solidFill>
                  <a:srgbClr val="FFC000"/>
                </a:solidFill>
                <a:latin typeface="Consolas"/>
              </a:rPr>
              <a:t> </a:t>
            </a:r>
            <a:r>
              <a:rPr lang="pt-BR" sz="1600" b="1" dirty="0" err="1">
                <a:solidFill>
                  <a:srgbClr val="FFC000"/>
                </a:solidFill>
                <a:latin typeface="Consolas"/>
              </a:rPr>
              <a:t>add</a:t>
            </a:r>
            <a:r>
              <a:rPr lang="pt-BR" b="1" i="1" dirty="0">
                <a:solidFill>
                  <a:schemeClr val="bg1"/>
                </a:solidFill>
              </a:rPr>
              <a:t>: </a:t>
            </a:r>
            <a:r>
              <a:rPr lang="pt-BR" b="1" dirty="0">
                <a:solidFill>
                  <a:schemeClr val="bg1"/>
                </a:solidFill>
              </a:rPr>
              <a:t>envia um arquivo para a área de preparo.</a:t>
            </a:r>
          </a:p>
          <a:p>
            <a:pPr>
              <a:buFont typeface="Wingdings" charset="2"/>
              <a:buChar char="v"/>
            </a:pPr>
            <a:r>
              <a:rPr lang="pt-BR" sz="1600" b="1" dirty="0" err="1">
                <a:solidFill>
                  <a:srgbClr val="FFC000"/>
                </a:solidFill>
                <a:latin typeface="Consolas"/>
              </a:rPr>
              <a:t>git</a:t>
            </a:r>
            <a:r>
              <a:rPr lang="pt-BR" sz="1600" b="1" dirty="0">
                <a:solidFill>
                  <a:srgbClr val="FFC000"/>
                </a:solidFill>
                <a:latin typeface="Consolas"/>
              </a:rPr>
              <a:t> reset [file]</a:t>
            </a:r>
            <a:r>
              <a:rPr lang="pt-BR" b="1" i="1" dirty="0">
                <a:solidFill>
                  <a:schemeClr val="bg1"/>
                </a:solidFill>
              </a:rPr>
              <a:t>: </a:t>
            </a:r>
            <a:r>
              <a:rPr lang="pt-BR" b="1" dirty="0">
                <a:solidFill>
                  <a:schemeClr val="bg1"/>
                </a:solidFill>
              </a:rPr>
              <a:t>retira um arquivo da área de preparação retando todas as mudanças realizadas.</a:t>
            </a:r>
          </a:p>
          <a:p>
            <a:pPr marL="0" indent="0">
              <a:buNone/>
            </a:pPr>
            <a:endParaRPr lang="pt-BR" i="1" dirty="0"/>
          </a:p>
        </p:txBody>
      </p:sp>
    </p:spTree>
    <p:extLst>
      <p:ext uri="{BB962C8B-B14F-4D97-AF65-F5344CB8AC3E}">
        <p14:creationId xmlns:p14="http://schemas.microsoft.com/office/powerpoint/2010/main" val="8741332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EF8084-7A69-D88B-DD92-AD8F7B6757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Alguns comandos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312AA97-8EE4-FED2-B27E-BBB3F58BC6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2830007"/>
          </a:xfrm>
          <a:solidFill>
            <a:schemeClr val="tx1">
              <a:lumMod val="50000"/>
            </a:schemeClr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>
              <a:buFont typeface="Wingdings" charset="2"/>
              <a:buChar char="v"/>
            </a:pPr>
            <a:r>
              <a:rPr lang="pt-BR" sz="1600" b="1" dirty="0" err="1">
                <a:solidFill>
                  <a:srgbClr val="FFC000"/>
                </a:solidFill>
                <a:latin typeface="Consolas"/>
              </a:rPr>
              <a:t>git</a:t>
            </a:r>
            <a:r>
              <a:rPr lang="pt-BR" sz="1600" b="1" dirty="0">
                <a:solidFill>
                  <a:srgbClr val="FFC000"/>
                </a:solidFill>
                <a:latin typeface="Consolas"/>
              </a:rPr>
              <a:t> reset –hard</a:t>
            </a:r>
            <a:r>
              <a:rPr lang="pt-BR" b="1" i="1" dirty="0">
                <a:solidFill>
                  <a:schemeClr val="bg1"/>
                </a:solidFill>
              </a:rPr>
              <a:t>:</a:t>
            </a:r>
            <a:r>
              <a:rPr lang="pt-BR" b="1" dirty="0">
                <a:solidFill>
                  <a:schemeClr val="bg1"/>
                </a:solidFill>
              </a:rPr>
              <a:t> descarta todas as mudanças até o último </a:t>
            </a:r>
            <a:r>
              <a:rPr lang="pt-BR" b="1" i="1" dirty="0" err="1">
                <a:solidFill>
                  <a:schemeClr val="bg1"/>
                </a:solidFill>
              </a:rPr>
              <a:t>commit</a:t>
            </a:r>
            <a:r>
              <a:rPr lang="pt-BR" b="1" i="1" dirty="0">
                <a:solidFill>
                  <a:schemeClr val="bg1"/>
                </a:solidFill>
              </a:rPr>
              <a:t>.</a:t>
            </a:r>
            <a:endParaRPr lang="pt-BR" b="1" dirty="0">
              <a:solidFill>
                <a:schemeClr val="bg1"/>
              </a:solidFill>
            </a:endParaRPr>
          </a:p>
          <a:p>
            <a:pPr>
              <a:buFont typeface="Wingdings" charset="2"/>
              <a:buChar char="v"/>
            </a:pPr>
            <a:r>
              <a:rPr lang="pt-BR" sz="1600" b="1" dirty="0" err="1">
                <a:solidFill>
                  <a:srgbClr val="FFC000"/>
                </a:solidFill>
                <a:latin typeface="Consolas"/>
              </a:rPr>
              <a:t>Git</a:t>
            </a:r>
            <a:r>
              <a:rPr lang="pt-BR" sz="1600" b="1" dirty="0">
                <a:solidFill>
                  <a:srgbClr val="FFC000"/>
                </a:solidFill>
                <a:latin typeface="Consolas"/>
              </a:rPr>
              <a:t> merge </a:t>
            </a:r>
            <a:r>
              <a:rPr lang="pt-BR" sz="1600" b="1" dirty="0" err="1">
                <a:solidFill>
                  <a:srgbClr val="FFC000"/>
                </a:solidFill>
                <a:latin typeface="Consolas"/>
              </a:rPr>
              <a:t>branch_A</a:t>
            </a:r>
            <a:r>
              <a:rPr lang="pt-BR" b="1" i="1" dirty="0">
                <a:solidFill>
                  <a:schemeClr val="bg1"/>
                </a:solidFill>
              </a:rPr>
              <a:t>: </a:t>
            </a:r>
            <a:r>
              <a:rPr lang="pt-BR" b="1" dirty="0">
                <a:solidFill>
                  <a:schemeClr val="bg1"/>
                </a:solidFill>
              </a:rPr>
              <a:t>merge as alterações do ramo chamado </a:t>
            </a:r>
            <a:r>
              <a:rPr lang="pt-BR" b="1" i="1" dirty="0" err="1">
                <a:solidFill>
                  <a:schemeClr val="bg1"/>
                </a:solidFill>
              </a:rPr>
              <a:t>branch_A</a:t>
            </a:r>
            <a:r>
              <a:rPr lang="pt-BR" b="1" dirty="0">
                <a:solidFill>
                  <a:schemeClr val="bg1"/>
                </a:solidFill>
              </a:rPr>
              <a:t> no ramo principal ou o ramo que se está visualizando. </a:t>
            </a:r>
          </a:p>
          <a:p>
            <a:pPr>
              <a:buFont typeface="Wingdings" charset="2"/>
              <a:buChar char="v"/>
            </a:pPr>
            <a:r>
              <a:rPr lang="pt-BR" sz="1600" b="1" dirty="0" err="1">
                <a:solidFill>
                  <a:srgbClr val="FFC000"/>
                </a:solidFill>
                <a:latin typeface="Consolas"/>
              </a:rPr>
              <a:t>git</a:t>
            </a:r>
            <a:r>
              <a:rPr lang="pt-BR" sz="1600" b="1" dirty="0">
                <a:solidFill>
                  <a:srgbClr val="FFC000"/>
                </a:solidFill>
                <a:latin typeface="Consolas"/>
              </a:rPr>
              <a:t> </a:t>
            </a:r>
            <a:r>
              <a:rPr lang="pt-BR" sz="1600" b="1" dirty="0" err="1">
                <a:solidFill>
                  <a:srgbClr val="FFC000"/>
                </a:solidFill>
                <a:latin typeface="Consolas"/>
              </a:rPr>
              <a:t>pull</a:t>
            </a:r>
            <a:r>
              <a:rPr lang="pt-BR" b="1" dirty="0">
                <a:solidFill>
                  <a:schemeClr val="bg1"/>
                </a:solidFill>
              </a:rPr>
              <a:t>: pega as alterações da versão de origem de um arquivo e merge com a versão local.</a:t>
            </a:r>
          </a:p>
          <a:p>
            <a:pPr>
              <a:buFont typeface="Wingdings" charset="2"/>
              <a:buChar char="v"/>
            </a:pPr>
            <a:r>
              <a:rPr lang="pt-BR" sz="1600" b="1" dirty="0" err="1">
                <a:solidFill>
                  <a:srgbClr val="FFC000"/>
                </a:solidFill>
                <a:latin typeface="Consolas"/>
              </a:rPr>
              <a:t>Git</a:t>
            </a:r>
            <a:r>
              <a:rPr lang="pt-BR" sz="1600" b="1" dirty="0">
                <a:solidFill>
                  <a:srgbClr val="FFC000"/>
                </a:solidFill>
                <a:latin typeface="Consolas"/>
              </a:rPr>
              <a:t> </a:t>
            </a:r>
            <a:r>
              <a:rPr lang="pt-BR" sz="1600" b="1" dirty="0" err="1">
                <a:solidFill>
                  <a:srgbClr val="FFC000"/>
                </a:solidFill>
                <a:latin typeface="Consolas"/>
              </a:rPr>
              <a:t>push</a:t>
            </a:r>
            <a:r>
              <a:rPr lang="pt-BR" b="1" dirty="0">
                <a:solidFill>
                  <a:schemeClr val="bg1"/>
                </a:solidFill>
              </a:rPr>
              <a:t>: merge as alterações locais na versão de origem de um arquivo.</a:t>
            </a:r>
          </a:p>
          <a:p>
            <a:pPr>
              <a:buFont typeface="Wingdings" charset="2"/>
              <a:buChar char="v"/>
            </a:pPr>
            <a:r>
              <a:rPr lang="pt-BR" sz="1600" b="1" dirty="0" err="1">
                <a:solidFill>
                  <a:srgbClr val="FFC000"/>
                </a:solidFill>
                <a:latin typeface="Consolas"/>
              </a:rPr>
              <a:t>Git</a:t>
            </a:r>
            <a:r>
              <a:rPr lang="pt-BR" sz="1600" b="1" dirty="0">
                <a:solidFill>
                  <a:srgbClr val="FFC000"/>
                </a:solidFill>
                <a:latin typeface="Consolas"/>
              </a:rPr>
              <a:t> </a:t>
            </a:r>
            <a:r>
              <a:rPr lang="pt-BR" sz="1600" b="1" dirty="0" err="1">
                <a:solidFill>
                  <a:srgbClr val="FFC000"/>
                </a:solidFill>
                <a:latin typeface="Consolas"/>
              </a:rPr>
              <a:t>command</a:t>
            </a:r>
            <a:r>
              <a:rPr lang="pt-BR" sz="1600" b="1" dirty="0">
                <a:solidFill>
                  <a:srgbClr val="FFC000"/>
                </a:solidFill>
                <a:latin typeface="Consolas"/>
              </a:rPr>
              <a:t> –help</a:t>
            </a:r>
            <a:r>
              <a:rPr lang="pt-BR" b="1" i="1" dirty="0">
                <a:solidFill>
                  <a:schemeClr val="bg1"/>
                </a:solidFill>
              </a:rPr>
              <a:t>: </a:t>
            </a:r>
            <a:r>
              <a:rPr lang="pt-BR" b="1" dirty="0">
                <a:solidFill>
                  <a:schemeClr val="bg1"/>
                </a:solidFill>
              </a:rPr>
              <a:t>mostra uma ajuda para caso não se saiba um comando ou queira </a:t>
            </a:r>
            <a:r>
              <a:rPr lang="pt-BR" b="1" dirty="0" err="1">
                <a:solidFill>
                  <a:schemeClr val="bg1"/>
                </a:solidFill>
              </a:rPr>
              <a:t>sa</a:t>
            </a:r>
            <a:r>
              <a:rPr lang="pt-BR" b="1" dirty="0">
                <a:solidFill>
                  <a:schemeClr val="bg1"/>
                </a:solidFill>
              </a:rPr>
              <a:t>ber o que ele </a:t>
            </a:r>
            <a:r>
              <a:rPr lang="pt-BR" b="1" dirty="0" err="1">
                <a:solidFill>
                  <a:schemeClr val="bg1"/>
                </a:solidFill>
              </a:rPr>
              <a:t>fa</a:t>
            </a:r>
            <a:r>
              <a:rPr lang="pt-BR" b="1" dirty="0">
                <a:solidFill>
                  <a:schemeClr val="bg1"/>
                </a:solidFill>
              </a:rPr>
              <a:t>z.</a:t>
            </a:r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53548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673094-8968-2572-EC69-76FD66CF08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GITHUB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BFB3E9B-7FD8-E0B5-64FC-34413465A9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pt-BR" dirty="0"/>
              <a:t>O github foi criado para trabalhar em cima do GIT, complementando o </a:t>
            </a:r>
            <a:r>
              <a:rPr lang="pt-BR"/>
              <a:t>mesmo e permitindo que se melhore a experiência de uso e cubra as suas deficiências.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/>
              <a:t>O </a:t>
            </a:r>
            <a:r>
              <a:rPr lang="pt-BR" err="1"/>
              <a:t>git</a:t>
            </a:r>
            <a:r>
              <a:rPr lang="pt-BR"/>
              <a:t>hub é uma plataforma online que permite que repositórios sejam hospedados em uma nuvem, facilitando o trabalho em equipe.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/>
              <a:t>Outra forma como o github se diferencia do </a:t>
            </a:r>
            <a:r>
              <a:rPr lang="pt-BR" dirty="0" err="1"/>
              <a:t>git</a:t>
            </a:r>
            <a:r>
              <a:rPr lang="pt-BR" dirty="0"/>
              <a:t> é que ele é muito mais visual e intuitivo de se utilizar, não necessitando de comandos e assim </a:t>
            </a:r>
            <a:r>
              <a:rPr lang="pt-BR" dirty="0" err="1"/>
              <a:t>sen</a:t>
            </a:r>
            <a:r>
              <a:rPr lang="pt-BR" dirty="0"/>
              <a:t>do muito mais acessível para aqueles que não possuem experiência em programação.</a:t>
            </a:r>
          </a:p>
        </p:txBody>
      </p:sp>
    </p:spTree>
    <p:extLst>
      <p:ext uri="{BB962C8B-B14F-4D97-AF65-F5344CB8AC3E}">
        <p14:creationId xmlns:p14="http://schemas.microsoft.com/office/powerpoint/2010/main" val="11036170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827F7A-6DF4-3F85-ED36-23C5B749B6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Outros exemplos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967165F-18B8-8397-8679-CBABFA5272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395791"/>
            <a:ext cx="8915400" cy="451543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pt-BR" sz="2400"/>
              <a:t>1. Criar um repositório local e clonar da nuvem</a:t>
            </a:r>
          </a:p>
          <a:p>
            <a:pPr marL="0" indent="0">
              <a:buNone/>
            </a:pPr>
            <a:r>
              <a:rPr lang="pt-BR" sz="1600"/>
              <a:t>Este são os primeiros processos que serão realizados em um projeto.</a:t>
            </a:r>
            <a:endParaRPr lang="pt-BR" sz="1600" dirty="0"/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/>
              <a:t>Criar repositório local</a:t>
            </a:r>
            <a:endParaRPr lang="pt-BR" dirty="0"/>
          </a:p>
          <a:p>
            <a:pPr marL="0" indent="0">
              <a:buNone/>
            </a:pPr>
            <a:r>
              <a:rPr lang="pt-BR" sz="1600" b="1" dirty="0" err="1">
                <a:solidFill>
                  <a:srgbClr val="FFC000"/>
                </a:solidFill>
                <a:latin typeface="Consolas"/>
              </a:rPr>
              <a:t>git</a:t>
            </a:r>
            <a:r>
              <a:rPr lang="pt-BR" sz="1600" b="1" dirty="0">
                <a:solidFill>
                  <a:srgbClr val="FFC000"/>
                </a:solidFill>
                <a:latin typeface="Consolas"/>
              </a:rPr>
              <a:t> </a:t>
            </a:r>
            <a:r>
              <a:rPr lang="pt-BR" sz="1600" b="1" dirty="0" err="1">
                <a:solidFill>
                  <a:srgbClr val="FFC000"/>
                </a:solidFill>
                <a:latin typeface="Consolas"/>
              </a:rPr>
              <a:t>init</a:t>
            </a:r>
            <a:r>
              <a:rPr lang="pt-BR" sz="1600" dirty="0"/>
              <a:t>: Inicializa um repositório </a:t>
            </a:r>
            <a:r>
              <a:rPr lang="pt-BR" sz="1600" dirty="0" err="1"/>
              <a:t>Git</a:t>
            </a:r>
            <a:r>
              <a:rPr lang="pt-BR" sz="1600" dirty="0"/>
              <a:t> na pasta atual. A partir </a:t>
            </a:r>
            <a:r>
              <a:rPr lang="pt-BR" sz="1600" dirty="0" err="1"/>
              <a:t>daqui, o</a:t>
            </a:r>
            <a:r>
              <a:rPr lang="pt-BR" sz="1600" dirty="0"/>
              <a:t> </a:t>
            </a:r>
            <a:r>
              <a:rPr lang="pt-BR" sz="1600" dirty="0" err="1"/>
              <a:t>Git</a:t>
            </a:r>
            <a:r>
              <a:rPr lang="pt-BR" sz="1600" dirty="0"/>
              <a:t> começa a rastrear alterações.</a:t>
            </a:r>
            <a:endParaRPr lang="pt-BR" sz="1600"/>
          </a:p>
          <a:p>
            <a:pPr marL="0" indent="0">
              <a:buNone/>
            </a:pPr>
            <a:endParaRPr lang="pt-BR" dirty="0"/>
          </a:p>
          <a:p>
            <a:pPr>
              <a:buNone/>
            </a:pPr>
            <a:endParaRPr lang="pt-BR" dirty="0"/>
          </a:p>
          <a:p>
            <a:pPr>
              <a:buNone/>
            </a:pPr>
            <a:endParaRPr lang="pt-BR" dirty="0"/>
          </a:p>
          <a:p>
            <a:pPr>
              <a:buNone/>
            </a:pPr>
            <a:endParaRPr lang="pt-BR" dirty="0"/>
          </a:p>
        </p:txBody>
      </p:sp>
      <p:pic>
        <p:nvPicPr>
          <p:cNvPr id="4" name="Imagem 3" descr="Texto&#10;&#10;O conteúdo gerado por IA pode estar incorreto.">
            <a:extLst>
              <a:ext uri="{FF2B5EF4-FFF2-40B4-BE49-F238E27FC236}">
                <a16:creationId xmlns:a16="http://schemas.microsoft.com/office/drawing/2014/main" id="{02A54A94-DD29-6235-A254-5A3C368A99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3554" y="3997746"/>
            <a:ext cx="7408843" cy="744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41719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3847CE-8C68-7FDF-6B19-4DAB4249AA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Outros exemplos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7E117DB-BA72-E5C4-6E5E-808F56C776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pt-BR"/>
              <a:t>Clonar um repositório remoto</a:t>
            </a:r>
          </a:p>
          <a:p>
            <a:pPr marL="0">
              <a:buNone/>
            </a:pPr>
            <a:r>
              <a:rPr lang="pt-BR" sz="1600" b="1" dirty="0" err="1">
                <a:solidFill>
                  <a:srgbClr val="FFC000"/>
                </a:solidFill>
                <a:latin typeface="Consolas"/>
              </a:rPr>
              <a:t>git</a:t>
            </a:r>
            <a:r>
              <a:rPr lang="pt-BR" sz="1600" b="1" dirty="0">
                <a:solidFill>
                  <a:srgbClr val="FFC000"/>
                </a:solidFill>
                <a:latin typeface="Consolas"/>
              </a:rPr>
              <a:t> clone</a:t>
            </a:r>
            <a:r>
              <a:rPr lang="pt-BR" sz="1600" dirty="0"/>
              <a:t> </a:t>
            </a:r>
            <a:r>
              <a:rPr lang="pt-BR" sz="1600" dirty="0">
                <a:solidFill>
                  <a:srgbClr val="EB84EB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https://github.com/usuario/projeto.git</a:t>
            </a:r>
            <a:r>
              <a:rPr lang="pt-BR" sz="1600" dirty="0">
                <a:solidFill>
                  <a:schemeClr val="tx1"/>
                </a:solidFill>
              </a:rPr>
              <a:t>: </a:t>
            </a:r>
            <a:r>
              <a:rPr lang="pt-BR" sz="1600" dirty="0"/>
              <a:t>Baixa um repositório da nuvem (por exemplo, do GitHub) para sua máquina, incluindo todo o histórico.</a:t>
            </a:r>
          </a:p>
          <a:p>
            <a:pPr marL="0" indent="0">
              <a:buNone/>
            </a:pPr>
            <a:endParaRPr lang="pt-BR" dirty="0"/>
          </a:p>
        </p:txBody>
      </p:sp>
      <p:pic>
        <p:nvPicPr>
          <p:cNvPr id="4" name="Imagem 3" descr="Texto&#10;&#10;O conteúdo gerado por IA pode estar incorreto.">
            <a:extLst>
              <a:ext uri="{FF2B5EF4-FFF2-40B4-BE49-F238E27FC236}">
                <a16:creationId xmlns:a16="http://schemas.microsoft.com/office/drawing/2014/main" id="{3EE26B01-B335-6576-678E-ED78B21D53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3307" y="3424488"/>
            <a:ext cx="7125702" cy="1853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4978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0D3844-1091-E3ED-93F0-8521E7CFCA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B2369A-D185-50CB-F229-91ACA8DAC2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Outros exemplos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E623F54-A8CB-4C5F-F059-483098C15F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420911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>
              <a:buNone/>
            </a:pPr>
            <a:r>
              <a:rPr lang="pt-BR" sz="2400"/>
              <a:t>2. Colocar um item na área de preparo e confirmar</a:t>
            </a:r>
          </a:p>
          <a:p>
            <a:pPr marL="0">
              <a:buNone/>
            </a:pPr>
            <a:r>
              <a:rPr lang="pt-BR" sz="1600" dirty="0">
                <a:latin typeface="Century Gothic"/>
              </a:rPr>
              <a:t>Após o projeto alcançar um desenvolvimento apropriado, se é recomendado realizar um </a:t>
            </a:r>
            <a:r>
              <a:rPr lang="pt-BR" sz="1600" dirty="0" err="1">
                <a:latin typeface="Century Gothic"/>
              </a:rPr>
              <a:t>commit</a:t>
            </a:r>
            <a:r>
              <a:rPr lang="pt-BR" sz="1600" i="1" dirty="0">
                <a:latin typeface="Century Gothic"/>
              </a:rPr>
              <a:t> </a:t>
            </a:r>
            <a:r>
              <a:rPr lang="pt-BR" sz="1600" dirty="0">
                <a:latin typeface="Century Gothic"/>
              </a:rPr>
              <a:t>para que o presente estado do arquivo seja salvo no repositório e antes que isso seja feito é necessário movê-lo para a área de preparo,</a:t>
            </a:r>
          </a:p>
          <a:p>
            <a:pPr marL="0">
              <a:buNone/>
            </a:pPr>
            <a:endParaRPr lang="pt-BR" dirty="0">
              <a:latin typeface="Century Gothic"/>
            </a:endParaRPr>
          </a:p>
          <a:p>
            <a:pPr marL="0">
              <a:buNone/>
            </a:pPr>
            <a:r>
              <a:rPr lang="pt-BR" sz="1600" b="1" dirty="0" err="1">
                <a:solidFill>
                  <a:srgbClr val="FFC000"/>
                </a:solidFill>
                <a:latin typeface="Consolas"/>
              </a:rPr>
              <a:t>git</a:t>
            </a:r>
            <a:r>
              <a:rPr lang="pt-BR" sz="1600" b="1" dirty="0">
                <a:solidFill>
                  <a:srgbClr val="FFC000"/>
                </a:solidFill>
                <a:latin typeface="Consolas"/>
              </a:rPr>
              <a:t> </a:t>
            </a:r>
            <a:r>
              <a:rPr lang="pt-BR" sz="1600" b="1" dirty="0" err="1">
                <a:solidFill>
                  <a:srgbClr val="FFC000"/>
                </a:solidFill>
                <a:latin typeface="Consolas"/>
              </a:rPr>
              <a:t>add</a:t>
            </a:r>
            <a:r>
              <a:rPr lang="pt-BR" sz="1600" b="1" dirty="0">
                <a:solidFill>
                  <a:srgbClr val="FFC000"/>
                </a:solidFill>
                <a:latin typeface="Consolas"/>
              </a:rPr>
              <a:t> arquivo.txt</a:t>
            </a:r>
            <a:r>
              <a:rPr lang="pt-BR" dirty="0">
                <a:latin typeface="Century Gothic"/>
              </a:rPr>
              <a:t>: envia o arquivo para a </a:t>
            </a:r>
            <a:r>
              <a:rPr lang="pt-BR" i="1" dirty="0" err="1">
                <a:latin typeface="Century Gothic"/>
              </a:rPr>
              <a:t>staging</a:t>
            </a:r>
            <a:r>
              <a:rPr lang="pt-BR" i="1" dirty="0">
                <a:latin typeface="Century Gothic"/>
              </a:rPr>
              <a:t> </a:t>
            </a:r>
            <a:r>
              <a:rPr lang="pt-BR" i="1" dirty="0" err="1">
                <a:latin typeface="Century Gothic"/>
              </a:rPr>
              <a:t>area</a:t>
            </a:r>
            <a:r>
              <a:rPr lang="pt-BR" dirty="0">
                <a:latin typeface="Century Gothic"/>
              </a:rPr>
              <a:t> (área de preparo)</a:t>
            </a:r>
          </a:p>
          <a:p>
            <a:pPr marL="0">
              <a:buNone/>
            </a:pPr>
            <a:endParaRPr lang="pt-BR"/>
          </a:p>
          <a:p>
            <a:pPr marL="0">
              <a:buNone/>
            </a:pPr>
            <a:endParaRPr lang="pt-BR" dirty="0">
              <a:solidFill>
                <a:srgbClr val="FFFFFF"/>
              </a:solidFill>
              <a:latin typeface="Century Gothic"/>
            </a:endParaRPr>
          </a:p>
          <a:p>
            <a:pPr marL="0" indent="0">
              <a:buNone/>
            </a:pPr>
            <a:endParaRPr lang="pt-BR" sz="2400" dirty="0"/>
          </a:p>
          <a:p>
            <a:pPr marL="0" indent="0">
              <a:buNone/>
            </a:pPr>
            <a:endParaRPr lang="pt-BR" dirty="0"/>
          </a:p>
        </p:txBody>
      </p:sp>
      <p:pic>
        <p:nvPicPr>
          <p:cNvPr id="6" name="Imagem 5" descr="Tela preta com letras brancas&#10;&#10;O conteúdo gerado por IA pode estar incorreto.">
            <a:extLst>
              <a:ext uri="{FF2B5EF4-FFF2-40B4-BE49-F238E27FC236}">
                <a16:creationId xmlns:a16="http://schemas.microsoft.com/office/drawing/2014/main" id="{057FDE13-2B18-7721-543B-A30654A7CF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8964" y="4346899"/>
            <a:ext cx="6096000" cy="771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95064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D22263-F229-8740-77C2-C2E16C1302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Outros exemplos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291B960-3BC4-84FC-8392-3C98FE96E5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>
              <a:buNone/>
            </a:pPr>
            <a:r>
              <a:rPr lang="pt-BR" sz="1600" b="1" i="0" u="none" strike="noStrike" baseline="0">
                <a:solidFill>
                  <a:srgbClr val="FFC000"/>
                </a:solidFill>
                <a:latin typeface="Consolas"/>
              </a:rPr>
              <a:t>git commit -m "Adiciona arquivo"</a:t>
            </a:r>
            <a:r>
              <a:rPr lang="pt-BR" sz="1800" b="0" i="0" u="none" strike="noStrike" baseline="0">
                <a:solidFill>
                  <a:srgbClr val="FFFFFF"/>
                </a:solidFill>
                <a:latin typeface="Century Gothic"/>
              </a:rPr>
              <a:t>: salva definitivamente a alteração no histórico do projeto</a:t>
            </a:r>
            <a:r>
              <a:rPr lang="pt-BR" sz="1800" b="0" i="0">
                <a:latin typeface="Century Gothic"/>
              </a:rPr>
              <a:t>​</a:t>
            </a:r>
            <a:endParaRPr lang="pt-BR" dirty="0"/>
          </a:p>
        </p:txBody>
      </p:sp>
      <p:pic>
        <p:nvPicPr>
          <p:cNvPr id="4" name="Imagem 3" descr="Texto&#10;&#10;O conteúdo gerado por IA pode estar incorreto.">
            <a:extLst>
              <a:ext uri="{FF2B5EF4-FFF2-40B4-BE49-F238E27FC236}">
                <a16:creationId xmlns:a16="http://schemas.microsoft.com/office/drawing/2014/main" id="{B1FA08B0-CE14-EF3D-9EFC-BCA747FEFFC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-161" b="266"/>
          <a:stretch>
            <a:fillRect/>
          </a:stretch>
        </p:blipFill>
        <p:spPr>
          <a:xfrm>
            <a:off x="2586324" y="2811080"/>
            <a:ext cx="5743254" cy="3448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59624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F17886-88D6-AD8B-D135-3CB9C9101C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9DFA64-0B06-5D68-F02A-C2672C9BCA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Outros exemplos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DC9B750-9AC6-2C01-4051-B0E74BD19E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511300"/>
            <a:ext cx="8915400" cy="516192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pt-BR" sz="2600" dirty="0"/>
              <a:t>3. Pegar alterações da </a:t>
            </a:r>
            <a:r>
              <a:rPr lang="pt-BR" sz="2600" dirty="0" err="1"/>
              <a:t>branch</a:t>
            </a:r>
            <a:r>
              <a:rPr lang="pt-BR" sz="2600" dirty="0"/>
              <a:t> principal e mesclar com outra </a:t>
            </a:r>
            <a:r>
              <a:rPr lang="pt-BR" sz="2600" dirty="0" err="1"/>
              <a:t>branch</a:t>
            </a:r>
            <a:endParaRPr lang="pt-BR" sz="2600" dirty="0"/>
          </a:p>
          <a:p>
            <a:pPr marL="0" indent="0">
              <a:buNone/>
            </a:pPr>
            <a:r>
              <a:rPr lang="pt-BR" dirty="0"/>
              <a:t>Quando se faz trabalhos em equipe é previsto que seja necessário pegar alterações feitas </a:t>
            </a:r>
            <a:r>
              <a:rPr lang="pt-BR"/>
              <a:t>por outros membros do grupo e mesclar as mesmas com as que estão sendo feitas localmente.</a:t>
            </a:r>
            <a:endParaRPr lang="pt-BR" dirty="0"/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sz="1900"/>
              <a:t>Atualizar a principal</a:t>
            </a:r>
            <a:endParaRPr lang="pt-BR" sz="1900" dirty="0"/>
          </a:p>
          <a:p>
            <a:pPr marL="0" indent="0">
              <a:buNone/>
            </a:pPr>
            <a:r>
              <a:rPr lang="pt-BR" sz="1900" b="1" dirty="0" err="1">
                <a:solidFill>
                  <a:srgbClr val="FFC000"/>
                </a:solidFill>
                <a:latin typeface="Consolas"/>
              </a:rPr>
              <a:t>git</a:t>
            </a:r>
            <a:r>
              <a:rPr lang="pt-BR" sz="1900" b="1" dirty="0">
                <a:solidFill>
                  <a:srgbClr val="FFC000"/>
                </a:solidFill>
                <a:latin typeface="Consolas"/>
              </a:rPr>
              <a:t> checkout </a:t>
            </a:r>
            <a:r>
              <a:rPr lang="pt-BR" sz="1900" b="1" dirty="0" err="1">
                <a:solidFill>
                  <a:srgbClr val="FFC000"/>
                </a:solidFill>
                <a:latin typeface="Consolas"/>
              </a:rPr>
              <a:t>main</a:t>
            </a:r>
            <a:r>
              <a:rPr lang="pt-BR" sz="1700" dirty="0">
                <a:latin typeface="Century Gothic"/>
              </a:rPr>
              <a:t>: muda para a </a:t>
            </a:r>
            <a:r>
              <a:rPr lang="pt-BR" sz="1700" dirty="0" err="1">
                <a:latin typeface="Century Gothic"/>
              </a:rPr>
              <a:t>branch</a:t>
            </a:r>
            <a:r>
              <a:rPr lang="pt-BR" sz="1700" dirty="0">
                <a:latin typeface="Century Gothic"/>
              </a:rPr>
              <a:t> principal </a:t>
            </a:r>
            <a:br>
              <a:rPr lang="pt-BR" sz="1700" dirty="0">
                <a:latin typeface="Century Gothic"/>
              </a:rPr>
            </a:br>
            <a:r>
              <a:rPr lang="pt-BR" sz="1900" b="1" dirty="0" err="1">
                <a:solidFill>
                  <a:srgbClr val="FFC000"/>
                </a:solidFill>
                <a:latin typeface="Consolas"/>
              </a:rPr>
              <a:t>git</a:t>
            </a:r>
            <a:r>
              <a:rPr lang="pt-BR" sz="1900" b="1" dirty="0">
                <a:solidFill>
                  <a:srgbClr val="FFC000"/>
                </a:solidFill>
                <a:latin typeface="Consolas"/>
              </a:rPr>
              <a:t> </a:t>
            </a:r>
            <a:r>
              <a:rPr lang="pt-BR" sz="1900" b="1" dirty="0" err="1">
                <a:solidFill>
                  <a:srgbClr val="FFC000"/>
                </a:solidFill>
                <a:latin typeface="Consolas"/>
              </a:rPr>
              <a:t>pull</a:t>
            </a:r>
            <a:r>
              <a:rPr lang="pt-BR" sz="1900" b="1" dirty="0">
                <a:solidFill>
                  <a:srgbClr val="FFC000"/>
                </a:solidFill>
                <a:latin typeface="Consolas"/>
              </a:rPr>
              <a:t>:</a:t>
            </a:r>
            <a:r>
              <a:rPr lang="pt-BR" sz="1700" dirty="0">
                <a:latin typeface="Century Gothic"/>
              </a:rPr>
              <a:t> baixa e integra alterações do repositório remoto</a:t>
            </a:r>
            <a:r>
              <a:rPr lang="pt-BR" sz="2400" dirty="0">
                <a:latin typeface="Century Gothic"/>
              </a:rPr>
              <a:t> </a:t>
            </a:r>
            <a:endParaRPr lang="pt-BR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pt-BR" sz="1900" dirty="0"/>
          </a:p>
          <a:p>
            <a:pPr marL="0" indent="0">
              <a:buNone/>
            </a:pPr>
            <a:endParaRPr lang="pt-BR" sz="1900" dirty="0"/>
          </a:p>
          <a:p>
            <a:pPr>
              <a:buNone/>
            </a:pPr>
            <a:endParaRPr lang="pt-BR" sz="2400" dirty="0"/>
          </a:p>
          <a:p>
            <a:pPr marL="0" indent="0">
              <a:buNone/>
            </a:pPr>
            <a:endParaRPr lang="pt-BR" sz="2400" dirty="0"/>
          </a:p>
          <a:p>
            <a:pPr marL="0" indent="0">
              <a:buNone/>
            </a:pPr>
            <a:endParaRPr lang="pt-BR" dirty="0"/>
          </a:p>
        </p:txBody>
      </p:sp>
      <p:pic>
        <p:nvPicPr>
          <p:cNvPr id="6" name="Imagem 5" descr="Texto&#10;&#10;O conteúdo gerado por IA pode estar incorreto.">
            <a:extLst>
              <a:ext uri="{FF2B5EF4-FFF2-40B4-BE49-F238E27FC236}">
                <a16:creationId xmlns:a16="http://schemas.microsoft.com/office/drawing/2014/main" id="{BCD408B6-A0E5-0590-1F2C-C2B94D65C5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3611" y="4985477"/>
            <a:ext cx="5076825" cy="742950"/>
          </a:xfrm>
          <a:prstGeom prst="rect">
            <a:avLst/>
          </a:prstGeom>
        </p:spPr>
      </p:pic>
      <p:pic>
        <p:nvPicPr>
          <p:cNvPr id="7" name="Imagem 6" descr="Texto&#10;&#10;O conteúdo gerado por IA pode estar incorreto.">
            <a:extLst>
              <a:ext uri="{FF2B5EF4-FFF2-40B4-BE49-F238E27FC236}">
                <a16:creationId xmlns:a16="http://schemas.microsoft.com/office/drawing/2014/main" id="{23408AE6-43EB-70EA-04EB-4282F1583D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3325" y="5874686"/>
            <a:ext cx="4838700" cy="561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22565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3F0AA7-477F-3B6C-2057-F51C49FD5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Outros exemplos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D2E3963-95C6-7DC6-8BE2-6CDECC24DA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pt-BR" sz="1900" dirty="0"/>
              <a:t>Ir para sua </a:t>
            </a:r>
            <a:r>
              <a:rPr lang="pt-BR" sz="1900" dirty="0" err="1"/>
              <a:t>branch</a:t>
            </a:r>
            <a:r>
              <a:rPr lang="pt-BR" sz="1900" dirty="0"/>
              <a:t> e mesclar</a:t>
            </a:r>
          </a:p>
          <a:p>
            <a:pPr marL="0" indent="0">
              <a:buNone/>
            </a:pPr>
            <a:r>
              <a:rPr lang="pt-BR" sz="1900" b="1" dirty="0" err="1">
                <a:solidFill>
                  <a:srgbClr val="FFC000"/>
                </a:solidFill>
                <a:latin typeface="Consolas"/>
              </a:rPr>
              <a:t>git</a:t>
            </a:r>
            <a:r>
              <a:rPr lang="pt-BR" sz="1900" b="1" dirty="0">
                <a:solidFill>
                  <a:srgbClr val="FFC000"/>
                </a:solidFill>
                <a:latin typeface="Consolas"/>
              </a:rPr>
              <a:t> checkout minha-</a:t>
            </a:r>
            <a:r>
              <a:rPr lang="pt-BR" sz="1900" b="1" dirty="0" err="1">
                <a:solidFill>
                  <a:srgbClr val="FFC000"/>
                </a:solidFill>
                <a:latin typeface="Consolas"/>
              </a:rPr>
              <a:t>branch</a:t>
            </a:r>
            <a:r>
              <a:rPr lang="pt-BR" sz="1600" dirty="0"/>
              <a:t>: Volta para sua </a:t>
            </a:r>
            <a:r>
              <a:rPr lang="pt-BR" sz="1600" dirty="0" err="1"/>
              <a:t>branch</a:t>
            </a:r>
            <a:r>
              <a:rPr lang="pt-BR" sz="1600" dirty="0"/>
              <a:t> </a:t>
            </a:r>
            <a:br>
              <a:rPr lang="pt-BR" sz="1600" dirty="0"/>
            </a:br>
            <a:r>
              <a:rPr lang="pt-BR" sz="1900" b="1" dirty="0" err="1">
                <a:solidFill>
                  <a:srgbClr val="FFC000"/>
                </a:solidFill>
                <a:latin typeface="Consolas"/>
              </a:rPr>
              <a:t>git</a:t>
            </a:r>
            <a:r>
              <a:rPr lang="pt-BR" sz="1900" b="1" dirty="0">
                <a:solidFill>
                  <a:srgbClr val="FFC000"/>
                </a:solidFill>
                <a:latin typeface="Consolas"/>
              </a:rPr>
              <a:t> merge </a:t>
            </a:r>
            <a:r>
              <a:rPr lang="pt-BR" sz="1900" b="1" dirty="0" err="1">
                <a:solidFill>
                  <a:srgbClr val="FFC000"/>
                </a:solidFill>
                <a:latin typeface="Consolas"/>
              </a:rPr>
              <a:t>main</a:t>
            </a:r>
            <a:r>
              <a:rPr lang="pt-BR" sz="1900" b="1" dirty="0">
                <a:solidFill>
                  <a:srgbClr val="FFC000"/>
                </a:solidFill>
                <a:latin typeface="Consolas"/>
              </a:rPr>
              <a:t>:</a:t>
            </a:r>
            <a:r>
              <a:rPr lang="pt-BR" sz="1600" dirty="0"/>
              <a:t> traz as atualizações da principal para sua </a:t>
            </a:r>
            <a:r>
              <a:rPr lang="pt-BR" sz="1600" dirty="0" err="1"/>
              <a:t>branch</a:t>
            </a:r>
            <a:endParaRPr lang="pt-BR" dirty="0" err="1"/>
          </a:p>
        </p:txBody>
      </p:sp>
      <p:pic>
        <p:nvPicPr>
          <p:cNvPr id="6" name="Imagem 5" descr="Texto&#10;&#10;O conteúdo gerado por IA pode estar incorreto.">
            <a:extLst>
              <a:ext uri="{FF2B5EF4-FFF2-40B4-BE49-F238E27FC236}">
                <a16:creationId xmlns:a16="http://schemas.microsoft.com/office/drawing/2014/main" id="{F04B6D1E-ABA7-9475-CB0A-340B2BF555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9251" y="3431238"/>
            <a:ext cx="5324245" cy="702440"/>
          </a:xfrm>
          <a:prstGeom prst="rect">
            <a:avLst/>
          </a:prstGeom>
        </p:spPr>
      </p:pic>
      <p:pic>
        <p:nvPicPr>
          <p:cNvPr id="7" name="Imagem 6" descr="Texto&#10;&#10;O conteúdo gerado por IA pode estar incorreto.">
            <a:extLst>
              <a:ext uri="{FF2B5EF4-FFF2-40B4-BE49-F238E27FC236}">
                <a16:creationId xmlns:a16="http://schemas.microsoft.com/office/drawing/2014/main" id="{2687AF6F-B88C-E974-0514-520D4977C2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5522" y="4599255"/>
            <a:ext cx="5331704" cy="588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12116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AB3DED-282F-9AE8-8184-7C3541E9A4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AA66D1-0471-8680-DC3E-D4C15A05F0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Outros exemplos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EB1AFBF-06F4-0533-47CC-523645976A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913263"/>
            <a:ext cx="8915400" cy="432846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>
              <a:buNone/>
            </a:pPr>
            <a:r>
              <a:rPr lang="pt-BR" sz="2400"/>
              <a:t>4. Resetar arquivo sem perder alterações</a:t>
            </a:r>
            <a:endParaRPr lang="pt-BR" sz="2400" dirty="0"/>
          </a:p>
          <a:p>
            <a:pPr marL="0">
              <a:buNone/>
            </a:pPr>
            <a:r>
              <a:rPr lang="pt-BR" sz="1600" dirty="0"/>
              <a:t>Quando se vê que a </a:t>
            </a:r>
            <a:r>
              <a:rPr lang="pt-BR" sz="1600"/>
              <a:t>ideia</a:t>
            </a:r>
            <a:r>
              <a:rPr lang="pt-BR" sz="1600" dirty="0"/>
              <a:t> testada em um ramo</a:t>
            </a:r>
            <a:r>
              <a:rPr lang="pt-BR" sz="1600" i="1" dirty="0"/>
              <a:t> não dará frutos imediatos, é as vezes necessário momentaneamente guardar aquele ramo e voltar ao trabalho principal.</a:t>
            </a:r>
          </a:p>
          <a:p>
            <a:pPr marL="0">
              <a:buNone/>
            </a:pPr>
            <a:endParaRPr lang="pt-BR" sz="1600" dirty="0"/>
          </a:p>
          <a:p>
            <a:pPr marL="0">
              <a:buNone/>
            </a:pPr>
            <a:r>
              <a:rPr lang="pt-BR"/>
              <a:t>Opção segura para guardar alterações</a:t>
            </a:r>
          </a:p>
          <a:p>
            <a:pPr marL="0">
              <a:buNone/>
            </a:pPr>
            <a:r>
              <a:rPr lang="pt-BR" sz="1600" b="1" dirty="0" err="1">
                <a:solidFill>
                  <a:srgbClr val="FFC000"/>
                </a:solidFill>
                <a:latin typeface="Consolas"/>
              </a:rPr>
              <a:t>git</a:t>
            </a:r>
            <a:r>
              <a:rPr lang="pt-BR" sz="1600" b="1" dirty="0">
                <a:solidFill>
                  <a:srgbClr val="FFC000"/>
                </a:solidFill>
                <a:latin typeface="Consolas"/>
              </a:rPr>
              <a:t> </a:t>
            </a:r>
            <a:r>
              <a:rPr lang="pt-BR" sz="1600" b="1" dirty="0" err="1">
                <a:solidFill>
                  <a:srgbClr val="FFC000"/>
                </a:solidFill>
                <a:latin typeface="Consolas"/>
              </a:rPr>
              <a:t>stash</a:t>
            </a:r>
            <a:r>
              <a:rPr lang="pt-BR" sz="1600" dirty="0">
                <a:ea typeface="+mn-lt"/>
                <a:cs typeface="+mn-lt"/>
              </a:rPr>
              <a:t>: Salva temporariamente todas as suas alterações (como se colocasse numa gaveta).</a:t>
            </a:r>
            <a:endParaRPr lang="pt-BR" sz="1600"/>
          </a:p>
          <a:p>
            <a:pPr marL="0">
              <a:buNone/>
            </a:pPr>
            <a:endParaRPr lang="pt-BR" sz="1600" dirty="0"/>
          </a:p>
          <a:p>
            <a:pPr marL="0">
              <a:buNone/>
            </a:pPr>
            <a:endParaRPr lang="pt-BR" sz="1600" dirty="0"/>
          </a:p>
          <a:p>
            <a:pPr marL="0" indent="0">
              <a:buNone/>
            </a:pPr>
            <a:endParaRPr lang="pt-BR" sz="2600" dirty="0"/>
          </a:p>
          <a:p>
            <a:pPr>
              <a:buNone/>
            </a:pPr>
            <a:endParaRPr lang="pt-BR" sz="2400" dirty="0"/>
          </a:p>
          <a:p>
            <a:pPr marL="0" indent="0">
              <a:buNone/>
            </a:pPr>
            <a:endParaRPr lang="pt-BR" sz="2400" dirty="0"/>
          </a:p>
          <a:p>
            <a:pPr marL="0" indent="0">
              <a:buNone/>
            </a:pPr>
            <a:endParaRPr lang="pt-BR" dirty="0"/>
          </a:p>
        </p:txBody>
      </p:sp>
      <p:pic>
        <p:nvPicPr>
          <p:cNvPr id="6" name="Imagem 5" descr="Tela preta com letras brancas&#10;&#10;O conteúdo gerado por IA pode estar incorreto.">
            <a:extLst>
              <a:ext uri="{FF2B5EF4-FFF2-40B4-BE49-F238E27FC236}">
                <a16:creationId xmlns:a16="http://schemas.microsoft.com/office/drawing/2014/main" id="{F81C0D00-EC11-C74F-052F-A67FE8CC62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2464" y="4407780"/>
            <a:ext cx="5648325" cy="704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67108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899AD6-91CE-6816-9659-0EB9A83968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Outros exemplos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2062FAD-3B2D-0CA5-DD27-351DA489CE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>
              <a:buNone/>
            </a:pPr>
            <a:r>
              <a:rPr lang="pt-BR" sz="1900"/>
              <a:t>Restaurar o arquivo ao estado original</a:t>
            </a:r>
          </a:p>
          <a:p>
            <a:pPr marL="0">
              <a:buNone/>
            </a:pPr>
            <a:r>
              <a:rPr lang="pt-BR" sz="1600" b="1" dirty="0" err="1">
                <a:solidFill>
                  <a:srgbClr val="FFC000"/>
                </a:solidFill>
                <a:latin typeface="Consolas"/>
              </a:rPr>
              <a:t>git</a:t>
            </a:r>
            <a:r>
              <a:rPr lang="pt-BR" sz="1600" b="1" dirty="0">
                <a:solidFill>
                  <a:srgbClr val="FFC000"/>
                </a:solidFill>
                <a:latin typeface="Consolas"/>
              </a:rPr>
              <a:t> checkout </a:t>
            </a:r>
            <a:r>
              <a:rPr lang="pt-BR" sz="1600" b="1" dirty="0" err="1">
                <a:solidFill>
                  <a:srgbClr val="FFC000"/>
                </a:solidFill>
                <a:latin typeface="Consolas"/>
              </a:rPr>
              <a:t>main</a:t>
            </a:r>
            <a:r>
              <a:rPr lang="pt-BR" sz="1600" b="1" dirty="0">
                <a:solidFill>
                  <a:srgbClr val="FFC000"/>
                </a:solidFill>
                <a:latin typeface="Consolas"/>
              </a:rPr>
              <a:t> -- arquivo.txt</a:t>
            </a:r>
            <a:r>
              <a:rPr lang="pt-BR" sz="1600" dirty="0"/>
              <a:t>: Pega a versão do arquivo da </a:t>
            </a:r>
            <a:r>
              <a:rPr lang="pt-BR" sz="1600" dirty="0" err="1"/>
              <a:t>branch</a:t>
            </a:r>
            <a:r>
              <a:rPr lang="pt-BR" sz="1600" dirty="0"/>
              <a:t> principal e substitui a atual.</a:t>
            </a:r>
          </a:p>
          <a:p>
            <a:pPr marL="0" indent="0">
              <a:buNone/>
            </a:pPr>
            <a:endParaRPr lang="pt-BR" dirty="0"/>
          </a:p>
        </p:txBody>
      </p:sp>
      <p:pic>
        <p:nvPicPr>
          <p:cNvPr id="4" name="Imagem 3" descr="Texto&#10;&#10;O conteúdo gerado por IA pode estar incorreto.">
            <a:extLst>
              <a:ext uri="{FF2B5EF4-FFF2-40B4-BE49-F238E27FC236}">
                <a16:creationId xmlns:a16="http://schemas.microsoft.com/office/drawing/2014/main" id="{AE9488D8-A650-948F-F92A-9FD21516D7B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78" b="-1190"/>
          <a:stretch>
            <a:fillRect/>
          </a:stretch>
        </p:blipFill>
        <p:spPr>
          <a:xfrm>
            <a:off x="2592234" y="3433246"/>
            <a:ext cx="6190443" cy="946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13907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990B24-B6E3-F93B-60B1-B659D1A8F0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Considere um problema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56BC2B4-B492-2C97-B95A-4FE075A4AE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>
              <a:buNone/>
            </a:pPr>
            <a:r>
              <a:rPr lang="pt-BR" sz="2800" dirty="0">
                <a:ea typeface="+mn-lt"/>
                <a:cs typeface="+mn-lt"/>
              </a:rPr>
              <a:t>Um erro crítico é descoberto no código principal enquanto se está trabalhando em uma nova versão de um software, tornando necessário voltar ao arquivo principal sem perder o que se está trabalhando e fazer as alterações sem risco de danificar ainda mais o código, </a:t>
            </a:r>
            <a:r>
              <a:rPr lang="pt-BR" sz="2800">
                <a:ea typeface="+mn-lt"/>
                <a:cs typeface="+mn-lt"/>
              </a:rPr>
              <a:t>isso é</a:t>
            </a:r>
            <a:r>
              <a:rPr lang="pt-BR" sz="2800" dirty="0">
                <a:ea typeface="+mn-lt"/>
                <a:cs typeface="+mn-lt"/>
              </a:rPr>
              <a:t> possível? </a:t>
            </a:r>
          </a:p>
          <a:p>
            <a:pPr marL="0" indent="0">
              <a:buNone/>
            </a:pPr>
            <a:endParaRPr lang="pt-BR" sz="2800" dirty="0"/>
          </a:p>
          <a:p>
            <a:pPr marL="0" indent="0">
              <a:buNone/>
            </a:pPr>
            <a:r>
              <a:rPr lang="pt-BR" sz="2000"/>
              <a:t>Primeiro, vamos entender a ferramenta que iremos utilizar para resolver o problema.</a:t>
            </a:r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9657979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4898F8-305F-289F-ECED-47C00F3A43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Exemplo prático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681C089-4161-E596-39A7-053DCC55AC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0" indent="0">
              <a:buNone/>
            </a:pPr>
            <a:r>
              <a:rPr lang="pt-BR" dirty="0"/>
              <a:t>Voltando ao problema do </a:t>
            </a:r>
            <a:r>
              <a:rPr lang="pt-BR"/>
              <a:t>início</a:t>
            </a:r>
            <a:r>
              <a:rPr lang="pt-BR" dirty="0"/>
              <a:t> da apresentação: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/>
              <a:t>Aqui estão os passos que serão seguidos para resolver o problema: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sz="1900"/>
              <a:t>1. Salvar temporariamente o que você está fazendo</a:t>
            </a:r>
          </a:p>
          <a:p>
            <a:pPr>
              <a:buNone/>
            </a:pPr>
            <a:r>
              <a:rPr lang="pt-BR" sz="1700" b="1" dirty="0" err="1">
                <a:solidFill>
                  <a:srgbClr val="FFC000"/>
                </a:solidFill>
                <a:latin typeface="Consolas"/>
              </a:rPr>
              <a:t>git</a:t>
            </a:r>
            <a:r>
              <a:rPr lang="pt-BR" sz="1700" b="1" dirty="0">
                <a:solidFill>
                  <a:srgbClr val="FFC000"/>
                </a:solidFill>
                <a:latin typeface="Consolas"/>
              </a:rPr>
              <a:t> </a:t>
            </a:r>
            <a:r>
              <a:rPr lang="pt-BR" sz="1700" b="1" dirty="0" err="1">
                <a:solidFill>
                  <a:srgbClr val="FFC000"/>
                </a:solidFill>
                <a:latin typeface="Consolas"/>
              </a:rPr>
              <a:t>stash</a:t>
            </a:r>
            <a:r>
              <a:rPr lang="pt-BR" sz="1700" dirty="0">
                <a:ea typeface="+mn-lt"/>
                <a:cs typeface="+mn-lt"/>
              </a:rPr>
              <a:t> </a:t>
            </a:r>
            <a:r>
              <a:rPr lang="pt-BR" sz="1700" b="1" dirty="0">
                <a:ea typeface="+mn-lt"/>
                <a:cs typeface="+mn-lt"/>
              </a:rPr>
              <a:t>: </a:t>
            </a:r>
            <a:r>
              <a:rPr lang="pt-BR" sz="1700" dirty="0">
                <a:ea typeface="+mn-lt"/>
                <a:cs typeface="+mn-lt"/>
              </a:rPr>
              <a:t>Guarda temporariamente suas alterações não </a:t>
            </a:r>
            <a:r>
              <a:rPr lang="pt-BR" sz="1700" dirty="0" err="1">
                <a:ea typeface="+mn-lt"/>
                <a:cs typeface="+mn-lt"/>
              </a:rPr>
              <a:t>confirmadas  e</a:t>
            </a:r>
            <a:r>
              <a:rPr lang="pt-BR" sz="1700" dirty="0">
                <a:ea typeface="+mn-lt"/>
                <a:cs typeface="+mn-lt"/>
              </a:rPr>
              <a:t> limpa o diretório de trabalho, permitindo mudar de contexto sem perder nada.</a:t>
            </a:r>
            <a:endParaRPr lang="pt-BR" sz="1700"/>
          </a:p>
          <a:p>
            <a:pPr>
              <a:buNone/>
            </a:pPr>
            <a:endParaRPr lang="pt-BR" dirty="0"/>
          </a:p>
          <a:p>
            <a:pPr>
              <a:buNone/>
            </a:pPr>
            <a:r>
              <a:rPr lang="pt-BR" sz="1900" dirty="0"/>
              <a:t>2. Voltar para a </a:t>
            </a:r>
            <a:r>
              <a:rPr lang="pt-BR" sz="1900" dirty="0" err="1"/>
              <a:t>branch</a:t>
            </a:r>
            <a:r>
              <a:rPr lang="pt-BR" sz="1900" dirty="0"/>
              <a:t> principal</a:t>
            </a:r>
          </a:p>
          <a:p>
            <a:pPr>
              <a:buNone/>
            </a:pPr>
            <a:r>
              <a:rPr lang="pt-BR" sz="1700" b="1" err="1">
                <a:solidFill>
                  <a:srgbClr val="FFC000"/>
                </a:solidFill>
                <a:latin typeface="Consolas"/>
              </a:rPr>
              <a:t>git</a:t>
            </a:r>
            <a:r>
              <a:rPr lang="pt-BR" sz="1700" b="1" dirty="0">
                <a:solidFill>
                  <a:srgbClr val="FFC000"/>
                </a:solidFill>
                <a:latin typeface="Consolas"/>
              </a:rPr>
              <a:t> checkout </a:t>
            </a:r>
            <a:r>
              <a:rPr lang="pt-BR" sz="1700" b="1" err="1">
                <a:solidFill>
                  <a:srgbClr val="FFC000"/>
                </a:solidFill>
                <a:latin typeface="Consolas"/>
              </a:rPr>
              <a:t>main</a:t>
            </a:r>
            <a:r>
              <a:rPr lang="pt-BR" sz="1700" b="1" dirty="0">
                <a:ea typeface="+mn-lt"/>
                <a:cs typeface="+mn-lt"/>
              </a:rPr>
              <a:t>: </a:t>
            </a:r>
            <a:r>
              <a:rPr lang="pt-BR" sz="1700" dirty="0">
                <a:ea typeface="+mn-lt"/>
                <a:cs typeface="+mn-lt"/>
              </a:rPr>
              <a:t>Muda para a </a:t>
            </a:r>
            <a:r>
              <a:rPr lang="pt-BR" sz="1700" err="1">
                <a:ea typeface="+mn-lt"/>
                <a:cs typeface="+mn-lt"/>
              </a:rPr>
              <a:t>branch</a:t>
            </a:r>
            <a:r>
              <a:rPr lang="pt-BR" sz="1700" dirty="0">
                <a:ea typeface="+mn-lt"/>
                <a:cs typeface="+mn-lt"/>
              </a:rPr>
              <a:t> principal do projeto, onde está o </a:t>
            </a:r>
            <a:r>
              <a:rPr lang="pt-BR" sz="1700">
                <a:ea typeface="+mn-lt"/>
                <a:cs typeface="+mn-lt"/>
              </a:rPr>
              <a:t>código “oficial</a:t>
            </a:r>
            <a:r>
              <a:rPr lang="pt-BR" sz="1700" dirty="0">
                <a:ea typeface="+mn-lt"/>
                <a:cs typeface="+mn-lt"/>
              </a:rPr>
              <a:t>”.</a:t>
            </a:r>
            <a:endParaRPr lang="pt-BR" sz="1700" dirty="0"/>
          </a:p>
          <a:p>
            <a:pPr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0459306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30202A-434E-C143-E16A-301CE0C409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Exemplo prático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0FBAB7E-6A0D-72F8-4557-CF94C58774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714500"/>
            <a:ext cx="8905374" cy="4766679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pt-BR" dirty="0"/>
              <a:t>3. Criar uma nova </a:t>
            </a:r>
            <a:r>
              <a:rPr lang="pt-BR" dirty="0" err="1"/>
              <a:t>branch</a:t>
            </a:r>
            <a:r>
              <a:rPr lang="pt-BR" dirty="0"/>
              <a:t> para corrigir o erro</a:t>
            </a:r>
            <a:endParaRPr lang="en-US" dirty="0"/>
          </a:p>
          <a:p>
            <a:pPr marL="0">
              <a:buNone/>
            </a:pPr>
            <a:r>
              <a:rPr lang="pt-BR" sz="1600" b="1" dirty="0" err="1">
                <a:solidFill>
                  <a:srgbClr val="FFC000"/>
                </a:solidFill>
                <a:latin typeface="Consolas"/>
              </a:rPr>
              <a:t>git</a:t>
            </a:r>
            <a:r>
              <a:rPr lang="pt-BR" sz="1600" b="1" dirty="0">
                <a:solidFill>
                  <a:srgbClr val="FFC000"/>
                </a:solidFill>
                <a:latin typeface="Consolas"/>
              </a:rPr>
              <a:t> checkout -b </a:t>
            </a:r>
            <a:r>
              <a:rPr lang="pt-BR" sz="1600" b="1" dirty="0" err="1">
                <a:solidFill>
                  <a:srgbClr val="FFC000"/>
                </a:solidFill>
                <a:latin typeface="Consolas"/>
              </a:rPr>
              <a:t>hotfix</a:t>
            </a:r>
            <a:r>
              <a:rPr lang="pt-BR" sz="1600" b="1" dirty="0">
                <a:solidFill>
                  <a:srgbClr val="FFC000"/>
                </a:solidFill>
                <a:latin typeface="Consolas"/>
              </a:rPr>
              <a:t>-erro-</a:t>
            </a:r>
            <a:r>
              <a:rPr lang="pt-BR" sz="1600" b="1" dirty="0" err="1">
                <a:solidFill>
                  <a:srgbClr val="FFC000"/>
                </a:solidFill>
                <a:latin typeface="Consolas"/>
              </a:rPr>
              <a:t>critico</a:t>
            </a:r>
            <a:r>
              <a:rPr lang="pt-BR" sz="1600" b="1" dirty="0">
                <a:solidFill>
                  <a:srgbClr val="FFC000"/>
                </a:solidFill>
                <a:latin typeface="Consolas"/>
              </a:rPr>
              <a:t>:</a:t>
            </a:r>
            <a:r>
              <a:rPr lang="pt-BR" sz="1600" b="1" dirty="0"/>
              <a:t> </a:t>
            </a:r>
            <a:r>
              <a:rPr lang="pt-BR" sz="1600" dirty="0"/>
              <a:t>Cria e já muda para uma nova </a:t>
            </a:r>
            <a:r>
              <a:rPr lang="pt-BR" sz="1600" dirty="0" err="1"/>
              <a:t>branch</a:t>
            </a:r>
            <a:r>
              <a:rPr lang="pt-BR" sz="1600" dirty="0"/>
              <a:t>. Isso isola a correção sem afetar o código principal diretamente.</a:t>
            </a:r>
          </a:p>
          <a:p>
            <a:pPr>
              <a:buNone/>
            </a:pPr>
            <a:endParaRPr lang="pt-BR" sz="1600" dirty="0"/>
          </a:p>
          <a:p>
            <a:pPr>
              <a:buNone/>
            </a:pPr>
            <a:endParaRPr lang="pt-BR" sz="1600" dirty="0"/>
          </a:p>
          <a:p>
            <a:pPr>
              <a:buNone/>
            </a:pPr>
            <a:r>
              <a:rPr lang="pt-BR"/>
              <a:t>4. Corrigir o erro e salvar</a:t>
            </a:r>
            <a:endParaRPr lang="en-US" dirty="0"/>
          </a:p>
          <a:p>
            <a:pPr>
              <a:buNone/>
            </a:pPr>
            <a:r>
              <a:rPr lang="pt-BR" sz="1600" b="1" dirty="0" err="1">
                <a:solidFill>
                  <a:srgbClr val="FFC000"/>
                </a:solidFill>
                <a:latin typeface="Consolas"/>
              </a:rPr>
              <a:t>git</a:t>
            </a:r>
            <a:r>
              <a:rPr lang="pt-BR" sz="1600" b="1" dirty="0">
                <a:solidFill>
                  <a:srgbClr val="FFC000"/>
                </a:solidFill>
                <a:latin typeface="Consolas"/>
              </a:rPr>
              <a:t> </a:t>
            </a:r>
            <a:r>
              <a:rPr lang="pt-BR" sz="1600" b="1" dirty="0" err="1">
                <a:solidFill>
                  <a:srgbClr val="FFC000"/>
                </a:solidFill>
                <a:latin typeface="Consolas"/>
              </a:rPr>
              <a:t>add</a:t>
            </a:r>
            <a:r>
              <a:rPr lang="pt-BR" sz="1600" b="1" dirty="0">
                <a:solidFill>
                  <a:srgbClr val="FFC000"/>
                </a:solidFill>
                <a:latin typeface="Consolas"/>
              </a:rPr>
              <a:t>:</a:t>
            </a:r>
            <a:r>
              <a:rPr lang="pt-BR" sz="1600" dirty="0">
                <a:latin typeface="Century Gothic"/>
              </a:rPr>
              <a:t> prepara as alterações para </a:t>
            </a:r>
            <a:r>
              <a:rPr lang="pt-BR" sz="1600" dirty="0" err="1">
                <a:latin typeface="Century Gothic"/>
              </a:rPr>
              <a:t>commit</a:t>
            </a:r>
            <a:r>
              <a:rPr lang="pt-BR" sz="1600" dirty="0">
                <a:latin typeface="Century Gothic"/>
              </a:rPr>
              <a:t> </a:t>
            </a:r>
          </a:p>
          <a:p>
            <a:pPr>
              <a:buNone/>
            </a:pPr>
            <a:r>
              <a:rPr lang="pt-BR" sz="1600" b="1" dirty="0" err="1">
                <a:solidFill>
                  <a:srgbClr val="FFC000"/>
                </a:solidFill>
                <a:latin typeface="Consolas"/>
              </a:rPr>
              <a:t>git</a:t>
            </a:r>
            <a:r>
              <a:rPr lang="pt-BR" sz="1600" b="1" dirty="0">
                <a:solidFill>
                  <a:srgbClr val="FFC000"/>
                </a:solidFill>
                <a:latin typeface="Consolas"/>
              </a:rPr>
              <a:t> </a:t>
            </a:r>
            <a:r>
              <a:rPr lang="pt-BR" sz="1600" b="1" dirty="0" err="1">
                <a:solidFill>
                  <a:srgbClr val="FFC000"/>
                </a:solidFill>
                <a:latin typeface="Consolas"/>
              </a:rPr>
              <a:t>commit</a:t>
            </a:r>
            <a:r>
              <a:rPr lang="pt-BR" sz="1600" b="1" dirty="0">
                <a:solidFill>
                  <a:srgbClr val="FFC000"/>
                </a:solidFill>
                <a:latin typeface="Consolas"/>
              </a:rPr>
              <a:t> -m "Corrige erro crítico</a:t>
            </a:r>
            <a:r>
              <a:rPr lang="pt-BR" sz="1600" dirty="0">
                <a:latin typeface="Century Gothic"/>
              </a:rPr>
              <a:t>": salva a correção no histórico </a:t>
            </a:r>
          </a:p>
          <a:p>
            <a:pPr indent="0">
              <a:buNone/>
            </a:pPr>
            <a:endParaRPr lang="en-US" sz="1600" dirty="0"/>
          </a:p>
          <a:p>
            <a:pPr>
              <a:buNone/>
            </a:pPr>
            <a:endParaRPr lang="pt-BR" dirty="0"/>
          </a:p>
        </p:txBody>
      </p:sp>
      <p:pic>
        <p:nvPicPr>
          <p:cNvPr id="6" name="Imagem 5" descr="Texto&#10;&#10;O conteúdo gerado por IA pode estar incorreto.">
            <a:extLst>
              <a:ext uri="{FF2B5EF4-FFF2-40B4-BE49-F238E27FC236}">
                <a16:creationId xmlns:a16="http://schemas.microsoft.com/office/drawing/2014/main" id="{D39980C1-8926-7B59-D8FF-FE23611AA0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1301" y="2867276"/>
            <a:ext cx="5124450" cy="561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813620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C02E43-8BD4-A130-5C1B-536765FD61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Exemplo prático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D97E820-7518-8F73-F70A-219E32E8C0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pt-BR" dirty="0"/>
              <a:t>5. Aplicar a correção na </a:t>
            </a:r>
            <a:r>
              <a:rPr lang="pt-BR" dirty="0" err="1"/>
              <a:t>branch</a:t>
            </a:r>
            <a:r>
              <a:rPr lang="pt-BR" dirty="0"/>
              <a:t> principal</a:t>
            </a:r>
            <a:endParaRPr lang="en-US" dirty="0"/>
          </a:p>
          <a:p>
            <a:pPr>
              <a:buNone/>
            </a:pPr>
            <a:r>
              <a:rPr lang="pt-BR" sz="1600" b="1" dirty="0" err="1">
                <a:solidFill>
                  <a:srgbClr val="FFC000"/>
                </a:solidFill>
                <a:latin typeface="Consolas"/>
              </a:rPr>
              <a:t>git</a:t>
            </a:r>
            <a:r>
              <a:rPr lang="pt-BR" sz="1600" b="1" dirty="0">
                <a:solidFill>
                  <a:srgbClr val="FFC000"/>
                </a:solidFill>
                <a:latin typeface="Consolas"/>
              </a:rPr>
              <a:t> checkout </a:t>
            </a:r>
            <a:r>
              <a:rPr lang="pt-BR" sz="1600" b="1" dirty="0" err="1">
                <a:solidFill>
                  <a:srgbClr val="FFC000"/>
                </a:solidFill>
                <a:latin typeface="Consolas"/>
              </a:rPr>
              <a:t>main</a:t>
            </a:r>
            <a:r>
              <a:rPr lang="pt-BR" sz="1600" b="1" dirty="0">
                <a:solidFill>
                  <a:srgbClr val="FFC000"/>
                </a:solidFill>
                <a:latin typeface="Consolas"/>
              </a:rPr>
              <a:t>:</a:t>
            </a:r>
            <a:r>
              <a:rPr lang="pt-BR" sz="1600" dirty="0"/>
              <a:t> Volta para a </a:t>
            </a:r>
            <a:r>
              <a:rPr lang="pt-BR" sz="1600" dirty="0" err="1"/>
              <a:t>branch</a:t>
            </a:r>
            <a:r>
              <a:rPr lang="pt-BR" sz="1600" dirty="0"/>
              <a:t> principal</a:t>
            </a:r>
            <a:endParaRPr lang="en-US" sz="1600" dirty="0"/>
          </a:p>
          <a:p>
            <a:pPr>
              <a:buNone/>
            </a:pPr>
            <a:r>
              <a:rPr lang="pt-BR" sz="1600" b="1" dirty="0" err="1">
                <a:solidFill>
                  <a:srgbClr val="FFC000"/>
                </a:solidFill>
                <a:latin typeface="Consolas"/>
              </a:rPr>
              <a:t>git</a:t>
            </a:r>
            <a:r>
              <a:rPr lang="pt-BR" sz="1600" b="1" dirty="0">
                <a:solidFill>
                  <a:srgbClr val="FFC000"/>
                </a:solidFill>
                <a:latin typeface="Consolas"/>
              </a:rPr>
              <a:t> merge </a:t>
            </a:r>
            <a:r>
              <a:rPr lang="pt-BR" sz="1600" b="1" dirty="0" err="1">
                <a:solidFill>
                  <a:srgbClr val="FFC000"/>
                </a:solidFill>
                <a:latin typeface="Consolas"/>
              </a:rPr>
              <a:t>hotfix</a:t>
            </a:r>
            <a:r>
              <a:rPr lang="pt-BR" sz="1600" b="1" dirty="0">
                <a:solidFill>
                  <a:srgbClr val="FFC000"/>
                </a:solidFill>
                <a:latin typeface="Consolas"/>
              </a:rPr>
              <a:t>-erro-</a:t>
            </a:r>
            <a:r>
              <a:rPr lang="pt-BR" sz="1600" b="1" dirty="0" err="1">
                <a:solidFill>
                  <a:srgbClr val="FFC000"/>
                </a:solidFill>
                <a:latin typeface="Consolas"/>
              </a:rPr>
              <a:t>critico</a:t>
            </a:r>
            <a:r>
              <a:rPr lang="pt-BR" sz="1600" b="1" dirty="0">
                <a:solidFill>
                  <a:srgbClr val="FFC000"/>
                </a:solidFill>
                <a:latin typeface="Consolas"/>
              </a:rPr>
              <a:t>:</a:t>
            </a:r>
            <a:r>
              <a:rPr lang="pt-BR" sz="1600" dirty="0"/>
              <a:t> Junta (</a:t>
            </a:r>
            <a:r>
              <a:rPr lang="pt-BR" sz="1600" i="1" dirty="0"/>
              <a:t>merge</a:t>
            </a:r>
            <a:r>
              <a:rPr lang="pt-BR" sz="1600" dirty="0"/>
              <a:t>) a correção feita na </a:t>
            </a:r>
            <a:r>
              <a:rPr lang="pt-BR" sz="1600" dirty="0" err="1"/>
              <a:t>branch</a:t>
            </a:r>
            <a:r>
              <a:rPr lang="pt-BR" sz="1600" dirty="0"/>
              <a:t> de </a:t>
            </a:r>
            <a:r>
              <a:rPr lang="pt-BR" sz="1600" dirty="0" err="1"/>
              <a:t>hotfix</a:t>
            </a:r>
            <a:endParaRPr lang="pt-BR" dirty="0" err="1"/>
          </a:p>
        </p:txBody>
      </p:sp>
      <p:pic>
        <p:nvPicPr>
          <p:cNvPr id="4" name="Imagem 3" descr="Texto&#10;&#10;O conteúdo gerado por IA pode estar incorreto.">
            <a:extLst>
              <a:ext uri="{FF2B5EF4-FFF2-40B4-BE49-F238E27FC236}">
                <a16:creationId xmlns:a16="http://schemas.microsoft.com/office/drawing/2014/main" id="{49411995-5F5A-E79C-9AF0-478665F29CE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04" b="-1961"/>
          <a:stretch>
            <a:fillRect/>
          </a:stretch>
        </p:blipFill>
        <p:spPr>
          <a:xfrm>
            <a:off x="2591948" y="3759391"/>
            <a:ext cx="5923910" cy="634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502349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A43D66-D1A5-D712-35D2-EC74761379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Exemplo prático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8AE4F73-8AE1-B869-AD7A-6EA2A99A1A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indent="0">
              <a:buNone/>
            </a:pPr>
            <a:endParaRPr lang="en-US" sz="800" dirty="0"/>
          </a:p>
          <a:p>
            <a:pPr>
              <a:buNone/>
            </a:pPr>
            <a:r>
              <a:rPr lang="pt-BR" dirty="0"/>
              <a:t>6.(Opcional) Apagar a </a:t>
            </a:r>
            <a:r>
              <a:rPr lang="pt-BR" dirty="0" err="1"/>
              <a:t>branch</a:t>
            </a:r>
            <a:r>
              <a:rPr lang="pt-BR" dirty="0"/>
              <a:t> de correção</a:t>
            </a:r>
            <a:endParaRPr lang="en-US"/>
          </a:p>
          <a:p>
            <a:pPr>
              <a:buNone/>
            </a:pPr>
            <a:r>
              <a:rPr lang="pt-BR" sz="1600" b="1" err="1">
                <a:solidFill>
                  <a:srgbClr val="FFC000"/>
                </a:solidFill>
                <a:latin typeface="Consolas"/>
              </a:rPr>
              <a:t>git</a:t>
            </a:r>
            <a:r>
              <a:rPr lang="pt-BR" sz="1600" b="1" dirty="0">
                <a:solidFill>
                  <a:srgbClr val="FFC000"/>
                </a:solidFill>
                <a:latin typeface="Consolas"/>
              </a:rPr>
              <a:t> </a:t>
            </a:r>
            <a:r>
              <a:rPr lang="pt-BR" sz="1600" b="1" err="1">
                <a:solidFill>
                  <a:srgbClr val="FFC000"/>
                </a:solidFill>
                <a:latin typeface="Consolas"/>
              </a:rPr>
              <a:t>branch</a:t>
            </a:r>
            <a:r>
              <a:rPr lang="pt-BR" sz="1600" b="1" dirty="0">
                <a:solidFill>
                  <a:srgbClr val="FFC000"/>
                </a:solidFill>
                <a:latin typeface="Consolas"/>
              </a:rPr>
              <a:t> -d </a:t>
            </a:r>
            <a:r>
              <a:rPr lang="pt-BR" sz="1600" b="1" err="1">
                <a:solidFill>
                  <a:srgbClr val="FFC000"/>
                </a:solidFill>
                <a:latin typeface="Consolas"/>
              </a:rPr>
              <a:t>hotfix</a:t>
            </a:r>
            <a:r>
              <a:rPr lang="pt-BR" sz="1600" b="1" dirty="0">
                <a:solidFill>
                  <a:srgbClr val="FFC000"/>
                </a:solidFill>
                <a:latin typeface="Consolas"/>
              </a:rPr>
              <a:t>-erro-</a:t>
            </a:r>
            <a:r>
              <a:rPr lang="pt-BR" sz="1600" b="1" err="1">
                <a:solidFill>
                  <a:srgbClr val="FFC000"/>
                </a:solidFill>
                <a:latin typeface="Consolas"/>
              </a:rPr>
              <a:t>critico</a:t>
            </a:r>
            <a:r>
              <a:rPr lang="pt-BR" sz="1600" dirty="0">
                <a:latin typeface="Century Gothic"/>
              </a:rPr>
              <a:t>: Remove</a:t>
            </a:r>
            <a:r>
              <a:rPr lang="pt-BR" sz="1600" dirty="0"/>
              <a:t> a </a:t>
            </a:r>
            <a:r>
              <a:rPr lang="pt-BR" sz="1600" err="1"/>
              <a:t>branch</a:t>
            </a:r>
            <a:r>
              <a:rPr lang="pt-BR" sz="1600"/>
              <a:t> temporária após o uso.</a:t>
            </a:r>
            <a:br>
              <a:rPr lang="en-US" sz="1600" dirty="0"/>
            </a:br>
            <a:endParaRPr lang="pt-BR" sz="1600">
              <a:latin typeface="Century Gothic"/>
              <a:ea typeface="Calibri"/>
              <a:cs typeface="Calibri"/>
            </a:endParaRPr>
          </a:p>
          <a:p>
            <a:pPr>
              <a:buNone/>
            </a:pPr>
            <a:endParaRPr lang="en-US" sz="1600" dirty="0"/>
          </a:p>
          <a:p>
            <a:pPr>
              <a:buNone/>
            </a:pPr>
            <a:endParaRPr lang="en-US" sz="1600" dirty="0"/>
          </a:p>
          <a:p>
            <a:pPr>
              <a:buNone/>
            </a:pPr>
            <a:r>
              <a:rPr lang="pt-BR" sz="1600" dirty="0"/>
              <a:t> </a:t>
            </a:r>
            <a:r>
              <a:rPr lang="pt-BR"/>
              <a:t>7. Voltar ao que você estava fazendo antes</a:t>
            </a:r>
            <a:endParaRPr lang="en-US"/>
          </a:p>
          <a:p>
            <a:pPr>
              <a:buNone/>
            </a:pPr>
            <a:r>
              <a:rPr lang="pt-BR" sz="1600" b="1" dirty="0" err="1">
                <a:solidFill>
                  <a:srgbClr val="FFC000"/>
                </a:solidFill>
                <a:latin typeface="Consolas"/>
              </a:rPr>
              <a:t>git</a:t>
            </a:r>
            <a:r>
              <a:rPr lang="pt-BR" sz="1600" b="1" dirty="0">
                <a:solidFill>
                  <a:srgbClr val="FFC000"/>
                </a:solidFill>
                <a:latin typeface="Consolas"/>
              </a:rPr>
              <a:t> checkout sua-</a:t>
            </a:r>
            <a:r>
              <a:rPr lang="pt-BR" sz="1600" b="1" dirty="0" err="1">
                <a:solidFill>
                  <a:srgbClr val="FFC000"/>
                </a:solidFill>
                <a:latin typeface="Consolas"/>
              </a:rPr>
              <a:t>branch</a:t>
            </a:r>
            <a:r>
              <a:rPr lang="pt-BR" sz="1600" dirty="0">
                <a:latin typeface="Century Gothic"/>
              </a:rPr>
              <a:t>: Retorna para sua </a:t>
            </a:r>
            <a:r>
              <a:rPr lang="pt-BR" sz="1600" dirty="0" err="1">
                <a:latin typeface="Century Gothic"/>
              </a:rPr>
              <a:t>branch</a:t>
            </a:r>
            <a:r>
              <a:rPr lang="pt-BR" sz="1600" dirty="0">
                <a:latin typeface="Century Gothic"/>
              </a:rPr>
              <a:t> de desenvolvimento </a:t>
            </a:r>
          </a:p>
          <a:p>
            <a:pPr>
              <a:buNone/>
            </a:pPr>
            <a:r>
              <a:rPr lang="pt-BR" sz="1600" b="1" dirty="0" err="1">
                <a:solidFill>
                  <a:srgbClr val="FFC000"/>
                </a:solidFill>
                <a:latin typeface="Consolas"/>
              </a:rPr>
              <a:t>git</a:t>
            </a:r>
            <a:r>
              <a:rPr lang="pt-BR" sz="1600" b="1" dirty="0">
                <a:solidFill>
                  <a:srgbClr val="FFC000"/>
                </a:solidFill>
                <a:latin typeface="Consolas"/>
              </a:rPr>
              <a:t> </a:t>
            </a:r>
            <a:r>
              <a:rPr lang="pt-BR" sz="1600" b="1" dirty="0" err="1">
                <a:solidFill>
                  <a:srgbClr val="FFC000"/>
                </a:solidFill>
                <a:latin typeface="Consolas"/>
              </a:rPr>
              <a:t>stash</a:t>
            </a:r>
            <a:r>
              <a:rPr lang="pt-BR" sz="1600" b="1" dirty="0">
                <a:solidFill>
                  <a:srgbClr val="FFC000"/>
                </a:solidFill>
                <a:latin typeface="Consolas"/>
              </a:rPr>
              <a:t> pop</a:t>
            </a:r>
            <a:r>
              <a:rPr lang="pt-BR" sz="1600" dirty="0">
                <a:latin typeface="Century Gothic"/>
              </a:rPr>
              <a:t>: recupera o que você estava fazendo antes </a:t>
            </a:r>
          </a:p>
          <a:p>
            <a:pPr>
              <a:buNone/>
            </a:pPr>
            <a:endParaRPr lang="pt-BR" sz="1600" dirty="0"/>
          </a:p>
        </p:txBody>
      </p:sp>
      <p:pic>
        <p:nvPicPr>
          <p:cNvPr id="6" name="Imagem 5" descr="Texto&#10;&#10;O conteúdo gerado por IA pode estar incorreto.">
            <a:extLst>
              <a:ext uri="{FF2B5EF4-FFF2-40B4-BE49-F238E27FC236}">
                <a16:creationId xmlns:a16="http://schemas.microsoft.com/office/drawing/2014/main" id="{450108F9-4873-56A1-A26F-F53D1B4AC0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8795" y="3332246"/>
            <a:ext cx="6382752" cy="684797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71813440-C077-B5A4-908E-377CED545B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7317" y="5475121"/>
            <a:ext cx="5643813" cy="680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296235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848BF1-DF79-8CDA-8CAA-FFFA69DB12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O que foi feito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203C497-A4EB-D0E5-3824-5AFF039039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pPr indent="0">
              <a:buNone/>
            </a:pPr>
            <a:endParaRPr lang="en-US" dirty="0"/>
          </a:p>
          <a:p>
            <a:pPr>
              <a:buNone/>
            </a:pPr>
            <a:r>
              <a:rPr lang="pt-BR"/>
              <a:t>Você:</a:t>
            </a:r>
            <a:endParaRPr lang="pt-BR" dirty="0"/>
          </a:p>
          <a:p>
            <a:pPr>
              <a:buNone/>
            </a:pPr>
            <a:endParaRPr lang="pt-BR" dirty="0"/>
          </a:p>
          <a:p>
            <a:pPr>
              <a:buAutoNum type="arabicParenR"/>
            </a:pPr>
            <a:r>
              <a:rPr lang="pt-BR" dirty="0"/>
              <a:t>Guardou o trabalho atual (</a:t>
            </a:r>
            <a:r>
              <a:rPr lang="pt-BR" i="1" dirty="0" err="1"/>
              <a:t>stash</a:t>
            </a:r>
            <a:r>
              <a:rPr lang="pt-BR" dirty="0"/>
              <a:t>) </a:t>
            </a:r>
            <a:endParaRPr lang="en-US" dirty="0"/>
          </a:p>
          <a:p>
            <a:pPr>
              <a:buAutoNum type="arabicParenR"/>
            </a:pPr>
            <a:r>
              <a:rPr lang="pt-BR" dirty="0"/>
              <a:t>Foi para a ramifi</a:t>
            </a:r>
            <a:r>
              <a:rPr lang="pt-BR"/>
              <a:t>cação principal</a:t>
            </a:r>
            <a:r>
              <a:rPr lang="pt-BR" dirty="0"/>
              <a:t> </a:t>
            </a:r>
          </a:p>
          <a:p>
            <a:pPr>
              <a:buAutoNum type="arabicParenR"/>
            </a:pPr>
            <a:r>
              <a:rPr lang="pt-BR" dirty="0"/>
              <a:t>Criou uma </a:t>
            </a:r>
            <a:r>
              <a:rPr lang="pt-BR" i="1" dirty="0" err="1"/>
              <a:t>branch</a:t>
            </a:r>
            <a:r>
              <a:rPr lang="pt-BR" dirty="0"/>
              <a:t> de correção </a:t>
            </a:r>
            <a:endParaRPr lang="en-US" dirty="0"/>
          </a:p>
          <a:p>
            <a:pPr>
              <a:buAutoNum type="arabicParenR"/>
            </a:pPr>
            <a:r>
              <a:rPr lang="pt-BR" dirty="0"/>
              <a:t>Fez a correção e fez um </a:t>
            </a:r>
            <a:r>
              <a:rPr lang="pt-BR" i="1" dirty="0" err="1"/>
              <a:t>commit</a:t>
            </a:r>
            <a:r>
              <a:rPr lang="pt-BR" i="1" dirty="0"/>
              <a:t> </a:t>
            </a:r>
            <a:endParaRPr lang="en-US" i="1" dirty="0"/>
          </a:p>
          <a:p>
            <a:pPr>
              <a:buAutoNum type="arabicParenR"/>
            </a:pPr>
            <a:r>
              <a:rPr lang="pt-BR" dirty="0"/>
              <a:t>Integrou </a:t>
            </a:r>
            <a:r>
              <a:rPr lang="pt-BR"/>
              <a:t>no arquivo principal</a:t>
            </a:r>
            <a:r>
              <a:rPr lang="pt-BR" dirty="0"/>
              <a:t> (</a:t>
            </a:r>
            <a:r>
              <a:rPr lang="pt-BR" i="1" dirty="0"/>
              <a:t>merge</a:t>
            </a:r>
            <a:r>
              <a:rPr lang="pt-BR" dirty="0"/>
              <a:t>) </a:t>
            </a:r>
          </a:p>
          <a:p>
            <a:pPr>
              <a:buAutoNum type="arabicParenR"/>
            </a:pPr>
            <a:r>
              <a:rPr lang="pt-BR"/>
              <a:t>Excluiu a ramificação de correção do erro</a:t>
            </a:r>
            <a:endParaRPr lang="pt-BR" dirty="0"/>
          </a:p>
          <a:p>
            <a:pPr>
              <a:buAutoNum type="arabicParenR"/>
            </a:pPr>
            <a:r>
              <a:rPr lang="pt-BR"/>
              <a:t>Voltou ao seu trabalho original</a:t>
            </a:r>
          </a:p>
        </p:txBody>
      </p:sp>
    </p:spTree>
    <p:extLst>
      <p:ext uri="{BB962C8B-B14F-4D97-AF65-F5344CB8AC3E}">
        <p14:creationId xmlns:p14="http://schemas.microsoft.com/office/powerpoint/2010/main" val="71837898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A7389B-2E4B-7951-1EC9-8555E82157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Referências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2797003-23D1-FE35-C4E9-8219AD89CC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Font typeface=""/>
              <a:buChar char="•"/>
            </a:pPr>
            <a:r>
              <a:rPr lang="pt-BR" dirty="0"/>
              <a:t>FLEURY, Cláudio A.; "</a:t>
            </a:r>
            <a:r>
              <a:rPr lang="pt-BR" i="1" dirty="0"/>
              <a:t>Git – Olhando sob o capô"; 2026; disponível em: </a:t>
            </a:r>
            <a:r>
              <a:rPr lang="pt-BR" dirty="0">
                <a:ea typeface="+mn-lt"/>
                <a:cs typeface="+mn-lt"/>
                <a:hlinkClick r:id="rId2"/>
              </a:rPr>
              <a:t>https://github.com/kaw19/prjens_ifg_gyn_26/</a:t>
            </a:r>
            <a:r>
              <a:rPr lang="pt-BR" dirty="0" err="1">
                <a:ea typeface="+mn-lt"/>
                <a:cs typeface="+mn-lt"/>
                <a:hlinkClick r:id="rId2"/>
              </a:rPr>
              <a:t>tree</a:t>
            </a:r>
            <a:r>
              <a:rPr lang="pt-BR" dirty="0">
                <a:ea typeface="+mn-lt"/>
                <a:cs typeface="+mn-lt"/>
                <a:hlinkClick r:id="rId2"/>
              </a:rPr>
              <a:t>/</a:t>
            </a:r>
            <a:r>
              <a:rPr lang="pt-BR" dirty="0" err="1">
                <a:ea typeface="+mn-lt"/>
                <a:cs typeface="+mn-lt"/>
                <a:hlinkClick r:id="rId2"/>
              </a:rPr>
              <a:t>main</a:t>
            </a:r>
            <a:r>
              <a:rPr lang="pt-BR" dirty="0">
                <a:ea typeface="+mn-lt"/>
                <a:cs typeface="+mn-lt"/>
                <a:hlinkClick r:id="rId2"/>
              </a:rPr>
              <a:t>/</a:t>
            </a:r>
            <a:r>
              <a:rPr lang="pt-BR" dirty="0" err="1">
                <a:ea typeface="+mn-lt"/>
                <a:cs typeface="+mn-lt"/>
                <a:hlinkClick r:id="rId2"/>
              </a:rPr>
              <a:t>mat_did</a:t>
            </a:r>
            <a:r>
              <a:rPr lang="pt-BR" dirty="0"/>
              <a:t>; acesso em 26/04/2026. </a:t>
            </a:r>
          </a:p>
          <a:p>
            <a:pPr>
              <a:buFont typeface=""/>
              <a:buChar char="•"/>
            </a:pPr>
            <a:r>
              <a:rPr lang="pt-BR" dirty="0"/>
              <a:t>FLEURY, Cláudio A.; "</a:t>
            </a:r>
            <a:r>
              <a:rPr lang="pt-BR" i="1" dirty="0"/>
              <a:t>Git</a:t>
            </a:r>
            <a:r>
              <a:rPr lang="pt-BR" dirty="0"/>
              <a:t> "(formato pdf); 2026; disponível em: </a:t>
            </a:r>
            <a:r>
              <a:rPr lang="pt-BR" dirty="0">
                <a:ea typeface="+mn-lt"/>
                <a:cs typeface="+mn-lt"/>
                <a:hlinkClick r:id="rId2"/>
              </a:rPr>
              <a:t>https://github.com/kaw19/prjens_ifg_gyn_26/</a:t>
            </a:r>
            <a:r>
              <a:rPr lang="pt-BR" dirty="0" err="1">
                <a:ea typeface="+mn-lt"/>
                <a:cs typeface="+mn-lt"/>
                <a:hlinkClick r:id="rId2"/>
              </a:rPr>
              <a:t>tree</a:t>
            </a:r>
            <a:r>
              <a:rPr lang="pt-BR" dirty="0">
                <a:ea typeface="+mn-lt"/>
                <a:cs typeface="+mn-lt"/>
                <a:hlinkClick r:id="rId2"/>
              </a:rPr>
              <a:t>/</a:t>
            </a:r>
            <a:r>
              <a:rPr lang="pt-BR" dirty="0" err="1">
                <a:ea typeface="+mn-lt"/>
                <a:cs typeface="+mn-lt"/>
                <a:hlinkClick r:id="rId2"/>
              </a:rPr>
              <a:t>main</a:t>
            </a:r>
            <a:r>
              <a:rPr lang="pt-BR" dirty="0">
                <a:ea typeface="+mn-lt"/>
                <a:cs typeface="+mn-lt"/>
                <a:hlinkClick r:id="rId2"/>
              </a:rPr>
              <a:t>/</a:t>
            </a:r>
            <a:r>
              <a:rPr lang="pt-BR" dirty="0" err="1">
                <a:ea typeface="+mn-lt"/>
                <a:cs typeface="+mn-lt"/>
                <a:hlinkClick r:id="rId2"/>
              </a:rPr>
              <a:t>mat_did</a:t>
            </a:r>
            <a:r>
              <a:rPr lang="pt-BR" dirty="0">
                <a:ea typeface="+mn-lt"/>
                <a:cs typeface="+mn-lt"/>
              </a:rPr>
              <a:t>; acesso </a:t>
            </a:r>
            <a:r>
              <a:rPr lang="pt-BR">
                <a:ea typeface="+mn-lt"/>
                <a:cs typeface="+mn-lt"/>
              </a:rPr>
              <a:t>em 26/04/2026.</a:t>
            </a:r>
            <a:endParaRPr lang="pt-BR"/>
          </a:p>
          <a:p>
            <a:pPr>
              <a:buFont typeface=""/>
              <a:buChar char="•"/>
            </a:pPr>
            <a:r>
              <a:rPr lang="pt-BR" dirty="0"/>
              <a:t>HOSTINGER (site); "</a:t>
            </a:r>
            <a:r>
              <a:rPr lang="pt-BR" i="1" dirty="0"/>
              <a:t>Comandos </a:t>
            </a:r>
            <a:r>
              <a:rPr lang="pt-BR" i="1" err="1"/>
              <a:t>Git</a:t>
            </a:r>
            <a:r>
              <a:rPr lang="pt-BR" i="1" dirty="0"/>
              <a:t>"; d</a:t>
            </a:r>
            <a:r>
              <a:rPr lang="pt-BR" dirty="0"/>
              <a:t>isponível em: </a:t>
            </a:r>
            <a:r>
              <a:rPr lang="pt-BR" dirty="0">
                <a:hlinkClick r:id="rId3"/>
              </a:rPr>
              <a:t>https://www.hostinger.com/</a:t>
            </a:r>
            <a:r>
              <a:rPr lang="pt-BR" dirty="0" err="1">
                <a:hlinkClick r:id="rId3"/>
              </a:rPr>
              <a:t>br</a:t>
            </a:r>
            <a:r>
              <a:rPr lang="pt-BR" dirty="0">
                <a:hlinkClick r:id="rId3"/>
              </a:rPr>
              <a:t>/tutoriais/comandos</a:t>
            </a:r>
            <a:r>
              <a:rPr lang="pt-BR"/>
              <a:t>; acesso em 27/04/2026.</a:t>
            </a:r>
            <a:endParaRPr lang="pt-BR" b="1" dirty="0"/>
          </a:p>
          <a:p>
            <a:pPr>
              <a:buFont typeface=""/>
              <a:buChar char="•"/>
            </a:pPr>
            <a:r>
              <a:rPr lang="pt-BR">
                <a:ea typeface="+mn-lt"/>
                <a:cs typeface="+mn-lt"/>
              </a:rPr>
              <a:t>Apoio de ferramentas de IA: ChatGPT e Gemini.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00629014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2C333A"/>
      </a:dk2>
      <a:lt2>
        <a:srgbClr val="D6ECED"/>
      </a:lt2>
      <a:accent1>
        <a:srgbClr val="DE32DE"/>
      </a:accent1>
      <a:accent2>
        <a:srgbClr val="F42B8A"/>
      </a:accent2>
      <a:accent3>
        <a:srgbClr val="349FE7"/>
      </a:accent3>
      <a:accent4>
        <a:srgbClr val="565FF8"/>
      </a:accent4>
      <a:accent5>
        <a:srgbClr val="876BE7"/>
      </a:accent5>
      <a:accent6>
        <a:srgbClr val="F268C2"/>
      </a:accent6>
      <a:hlink>
        <a:srgbClr val="F55CF9"/>
      </a:hlink>
      <a:folHlink>
        <a:srgbClr val="E8A0EE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F20B7C8E-B819-43F3-AAF9-EE50B1A8363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26</Slides>
  <Notes>0</Notes>
  <HiddenSlides>10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26</vt:i4>
      </vt:variant>
    </vt:vector>
  </HeadingPairs>
  <TitlesOfParts>
    <vt:vector size="27" baseType="lpstr">
      <vt:lpstr>Wisp</vt:lpstr>
      <vt:lpstr>Apresentação do GIT</vt:lpstr>
      <vt:lpstr>Vamos Pensar</vt:lpstr>
      <vt:lpstr>O que é o GIT</vt:lpstr>
      <vt:lpstr>Propósito de desenvolvimento</vt:lpstr>
      <vt:lpstr>Componentes Importantes</vt:lpstr>
      <vt:lpstr>Vantagens e Desvantagens</vt:lpstr>
      <vt:lpstr>Vantagens e Desvantagens</vt:lpstr>
      <vt:lpstr>Alguns comandos </vt:lpstr>
      <vt:lpstr>Alguns comandos </vt:lpstr>
      <vt:lpstr>Alguns comandos </vt:lpstr>
      <vt:lpstr>GITHUB</vt:lpstr>
      <vt:lpstr>Outros exemplos</vt:lpstr>
      <vt:lpstr>Outros exemplos</vt:lpstr>
      <vt:lpstr>Outros exemplos</vt:lpstr>
      <vt:lpstr>Outros exemplos</vt:lpstr>
      <vt:lpstr>Outros exemplos</vt:lpstr>
      <vt:lpstr>Outros exemplos</vt:lpstr>
      <vt:lpstr>Outros exemplos</vt:lpstr>
      <vt:lpstr>Outros exemplos</vt:lpstr>
      <vt:lpstr>Considere um problema</vt:lpstr>
      <vt:lpstr>Exemplo prático</vt:lpstr>
      <vt:lpstr>Exemplo prático</vt:lpstr>
      <vt:lpstr>Exemplo prático</vt:lpstr>
      <vt:lpstr>Exemplo prático</vt:lpstr>
      <vt:lpstr>O que foi feito</vt:lpstr>
      <vt:lpstr>Referências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1357</cp:revision>
  <dcterms:created xsi:type="dcterms:W3CDTF">2026-04-24T17:22:14Z</dcterms:created>
  <dcterms:modified xsi:type="dcterms:W3CDTF">2026-05-04T16:44:21Z</dcterms:modified>
</cp:coreProperties>
</file>